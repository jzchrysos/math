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8" r:id="rId4"/>
    <p:sldId id="286" r:id="rId5"/>
    <p:sldId id="282" r:id="rId6"/>
    <p:sldId id="283" r:id="rId7"/>
    <p:sldId id="269" r:id="rId8"/>
    <p:sldId id="272" r:id="rId9"/>
    <p:sldId id="273" r:id="rId10"/>
    <p:sldId id="265" r:id="rId11"/>
    <p:sldId id="264" r:id="rId12"/>
    <p:sldId id="270" r:id="rId13"/>
    <p:sldId id="275" r:id="rId14"/>
    <p:sldId id="276" r:id="rId15"/>
    <p:sldId id="277" r:id="rId16"/>
    <p:sldId id="278" r:id="rId17"/>
    <p:sldId id="281" r:id="rId18"/>
    <p:sldId id="280" r:id="rId19"/>
    <p:sldId id="279" r:id="rId20"/>
    <p:sldId id="261" r:id="rId21"/>
    <p:sldId id="271" r:id="rId22"/>
    <p:sldId id="28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206E"/>
    <a:srgbClr val="156082"/>
    <a:srgbClr val="042433"/>
    <a:srgbClr val="4E95D9"/>
    <a:srgbClr val="BDC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94660"/>
  </p:normalViewPr>
  <p:slideViewPr>
    <p:cSldViewPr snapToGrid="0">
      <p:cViewPr varScale="1">
        <p:scale>
          <a:sx n="92" d="100"/>
          <a:sy n="92" d="100"/>
        </p:scale>
        <p:origin x="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07F45-03C7-DC21-0035-CB02CE243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AF9-074F-5067-EC10-4762C2A98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4D3DC-6D8F-DD22-F15C-D743B347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AF1B-8B52-405C-87FF-49AAC32D92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D7BFD-5485-98CC-D816-130C3351F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9843A-7A24-8B60-6F43-F5F43BF7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8850-9029-48DB-8CD2-95EBD058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6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A39D-0057-B7F9-4A89-6318D52BC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33E5E-909D-AF92-EE93-85E3BAADC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9C8DC-5D5C-6410-2747-0A3EA9C3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AF1B-8B52-405C-87FF-49AAC32D92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93EA7-3FC4-311D-3B83-DE9AE0B7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7F83D-91AA-9A20-E5D1-D2CCB39C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8850-9029-48DB-8CD2-95EBD058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85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6276-1B9C-8065-905B-54BDAD776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05C63-CFCA-8D0E-4423-942F51A19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49808-2A8F-6D1B-D50E-436ACC74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AF1B-8B52-405C-87FF-49AAC32D92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3FCC6-D706-AFE4-9091-4A8869CB0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92360-F626-7A38-9F6D-0B088E8B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8850-9029-48DB-8CD2-95EBD058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0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975B-7546-708A-7CFF-D1546050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14BA0-899C-0EB1-C746-7ED2A7C24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1B7F2-782C-41A2-25CD-33F090BAA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D98D9-1CDA-6CFF-4CA8-50FEAE2D6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AF1B-8B52-405C-87FF-49AAC32D92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D80A9-DB64-3F4F-AF51-A8BA977B6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3D78C-4D3D-2BB2-1D1C-5B78734A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8850-9029-48DB-8CD2-95EBD058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89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C2ACA-7D32-8352-930D-5B9EBAF0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B3388-7E28-00E0-406B-F0F6771BD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31418-2AF0-70DD-C246-C020D4B2A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18360D-45E2-16A5-55BE-933F63AF39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42C549-25A8-823B-6C3E-8FC0797FD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7C7CDB-5242-BB0D-CA03-A0BBBEFF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AF1B-8B52-405C-87FF-49AAC32D92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2C299C-A36E-DFC4-B455-5F8DD49D6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266B90-3BF1-EC92-9E92-59CF95E8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8850-9029-48DB-8CD2-95EBD058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7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6988-3DB6-BB1A-BBFD-3F63BE0B3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5AADDB-F808-0477-2DE6-8105BAB3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AF1B-8B52-405C-87FF-49AAC32D92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DE0BF8-46EC-B22A-F78C-1A9DB06E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8FCA4-C18C-795F-FBBC-B02DE1B95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8850-9029-48DB-8CD2-95EBD058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48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B9B46D-1D9B-535D-CDAF-3ABB6EB5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AF1B-8B52-405C-87FF-49AAC32D92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78C12-FB86-B3E7-CD96-165BB271B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3C067-189A-45BB-CE02-29CEDC2D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8850-9029-48DB-8CD2-95EBD058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36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27C7-AAAB-14C2-1FD1-A12B0CD32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A2B10-5FA5-6DF4-4629-FB72DEB0E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D97FD-7A40-4D85-BFFD-F410C8433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33790-8302-68FA-F695-44D807A60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AF1B-8B52-405C-87FF-49AAC32D92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11CC7-4BC9-FF8F-C8E7-E9889A33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ADF5E-67BC-71CB-6FE0-08C789D4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8850-9029-48DB-8CD2-95EBD058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9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E8271-997F-860E-732C-ED29E977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C86A6D-B863-4CD4-6AB6-B2A4A116B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C4430-5446-193C-1496-136FDF4FA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7C76E-4D3E-C994-CB34-72423F59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AF1B-8B52-405C-87FF-49AAC32D92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E702A-FA5E-2B92-5373-9C60178F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DF943-291D-97B5-1D88-14B8255C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8850-9029-48DB-8CD2-95EBD058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5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452A-88B1-5D54-95B5-E2322757F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1CEB5F-22C5-B53B-E170-3D82DA0B6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3CF56-FEE9-B048-D4F8-7B8A31852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AF1B-8B52-405C-87FF-49AAC32D92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F9AF4-9E95-8701-55F9-BC03882B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DE50B-8994-5E6E-78A9-A27E0F9B9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8850-9029-48DB-8CD2-95EBD058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3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EFC9BD-431D-3800-ACAA-C3342B8C6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154DC-64C6-3399-A267-BFEB9A5EE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F3368-48BB-9255-EE28-B264477A3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BAF1B-8B52-405C-87FF-49AAC32D92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AEAA9-895E-ECC5-7E19-B64A11CC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A7276-7411-D707-8352-2B7B5B56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B8850-9029-48DB-8CD2-95EBD058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83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FAF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FCA712-8E90-433F-C73F-4E0DC80F4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D3A57-3F99-57BE-5061-5B972A910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D9946-A670-0C4F-5B09-3263E3B9B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BBAF1B-8B52-405C-87FF-49AAC32D92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FB3D-F4E6-E942-D330-B6FBFA2A6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DD4B4-A36D-F27F-9275-F962F855D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B8850-9029-48DB-8CD2-95EBD0584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9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8EF16-372A-F7F1-AD2A-9D7DC39016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Distortion and Veto Rules</a:t>
            </a:r>
          </a:p>
        </p:txBody>
      </p:sp>
    </p:spTree>
    <p:extLst>
      <p:ext uri="{BB962C8B-B14F-4D97-AF65-F5344CB8AC3E}">
        <p14:creationId xmlns:p14="http://schemas.microsoft.com/office/powerpoint/2010/main" val="240603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F80552-D17A-E91C-1106-987D789C0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53309"/>
            <a:ext cx="9144000" cy="1655762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(2025)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BE923-908D-0554-0FC4-4EB84127A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1726"/>
            <a:ext cx="12192000" cy="2227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EBA968-482E-D2BB-7884-EFEE1D91C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414" y="455855"/>
            <a:ext cx="9831172" cy="3305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E4534B-C154-1EE8-D5F5-FE331A1EC294}"/>
              </a:ext>
            </a:extLst>
          </p:cNvPr>
          <p:cNvSpPr txBox="1"/>
          <p:nvPr/>
        </p:nvSpPr>
        <p:spPr>
          <a:xfrm>
            <a:off x="8776854" y="5119254"/>
            <a:ext cx="2653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(Feb 2025)</a:t>
            </a:r>
          </a:p>
        </p:txBody>
      </p:sp>
    </p:spTree>
    <p:extLst>
      <p:ext uri="{BB962C8B-B14F-4D97-AF65-F5344CB8AC3E}">
        <p14:creationId xmlns:p14="http://schemas.microsoft.com/office/powerpoint/2010/main" val="340616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968FE9-520B-6D07-7BA8-6C4737871B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19757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100"/>
                  </a:spcBef>
                  <a:spcAft>
                    <a:spcPts val="10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Given a profile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the </a:t>
                </a:r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distortion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a candidate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</a:t>
                </a:r>
              </a:p>
              <a:p>
                <a:pPr marL="0" indent="0" algn="ctr">
                  <a:lnSpc>
                    <a:spcPct val="110000"/>
                  </a:lnSpc>
                  <a:spcBef>
                    <a:spcPts val="100"/>
                  </a:spcBef>
                  <a:spcAft>
                    <a:spcPts val="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𝑜𝑝</m:t>
                                  </m:r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func>
                    </m:oMath>
                  </m:oMathPara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10000"/>
                  </a:lnSpc>
                  <a:spcBef>
                    <a:spcPts val="100"/>
                  </a:spcBef>
                  <a:spcAft>
                    <a:spcPts val="10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distortion of a voting rule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100"/>
                  </a:spcBef>
                  <a:spcAft>
                    <a:spcPts val="1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</m:t>
                      </m:r>
                      <m:limLow>
                        <m:limLow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sup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lim>
                      </m:limLow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10000"/>
                  </a:lnSpc>
                  <a:spcBef>
                    <a:spcPts val="100"/>
                  </a:spcBef>
                  <a:spcAft>
                    <a:spcPts val="1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lnSpc>
                    <a:spcPct val="110000"/>
                  </a:lnSpc>
                  <a:spcBef>
                    <a:spcPts val="100"/>
                  </a:spcBef>
                  <a:spcAft>
                    <a:spcPts val="10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Rules with distortion 3:</a:t>
                </a:r>
              </a:p>
              <a:p>
                <a:pPr lvl="1">
                  <a:lnSpc>
                    <a:spcPct val="110000"/>
                  </a:lnSpc>
                  <a:spcBef>
                    <a:spcPts val="100"/>
                  </a:spcBef>
                  <a:spcAft>
                    <a:spcPts val="10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Plurality Matching</a:t>
                </a:r>
              </a:p>
              <a:p>
                <a:pPr lvl="1">
                  <a:lnSpc>
                    <a:spcPct val="110000"/>
                  </a:lnSpc>
                  <a:spcBef>
                    <a:spcPts val="100"/>
                  </a:spcBef>
                  <a:spcAft>
                    <a:spcPts val="10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Plurality Veto</a:t>
                </a:r>
              </a:p>
              <a:p>
                <a:pPr lvl="1">
                  <a:lnSpc>
                    <a:spcPct val="110000"/>
                  </a:lnSpc>
                  <a:spcBef>
                    <a:spcPts val="100"/>
                  </a:spcBef>
                  <a:spcAft>
                    <a:spcPts val="10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Others?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968FE9-520B-6D07-7BA8-6C4737871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19757"/>
              </a:xfrm>
              <a:blipFill>
                <a:blip r:embed="rId2"/>
                <a:stretch>
                  <a:fillRect l="-928"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F5195D32-5090-4761-965D-A1E90E923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Review: Distortion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104D59-98E7-9BD6-B96B-CFC2EFAE07A5}"/>
                  </a:ext>
                </a:extLst>
              </p:cNvPr>
              <p:cNvSpPr txBox="1"/>
              <p:nvPr/>
            </p:nvSpPr>
            <p:spPr>
              <a:xfrm>
                <a:off x="9365673" y="2228671"/>
                <a:ext cx="2209800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𝑜𝑝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means least-cost candidate given profile P and metric embedding X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104D59-98E7-9BD6-B96B-CFC2EFAE0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673" y="2228671"/>
                <a:ext cx="2209800" cy="1200329"/>
              </a:xfrm>
              <a:prstGeom prst="rect">
                <a:avLst/>
              </a:prstGeom>
              <a:blipFill>
                <a:blip r:embed="rId3"/>
                <a:stretch>
                  <a:fillRect l="-1918" t="-3015" r="-274" b="-6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594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F7330-AEA3-B2E7-AB7E-E90D4B55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26FC5D-A454-C0CA-EBB8-8BB721FC5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Review: Distortion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284E70-C467-26ED-5023-B3C79A974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603674"/>
              </p:ext>
            </p:extLst>
          </p:nvPr>
        </p:nvGraphicFramePr>
        <p:xfrm>
          <a:off x="1962727" y="2984884"/>
          <a:ext cx="207587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958">
                  <a:extLst>
                    <a:ext uri="{9D8B030D-6E8A-4147-A177-3AD203B41FA5}">
                      <a16:colId xmlns:a16="http://schemas.microsoft.com/office/drawing/2014/main" val="3458799105"/>
                    </a:ext>
                  </a:extLst>
                </a:gridCol>
                <a:gridCol w="691958">
                  <a:extLst>
                    <a:ext uri="{9D8B030D-6E8A-4147-A177-3AD203B41FA5}">
                      <a16:colId xmlns:a16="http://schemas.microsoft.com/office/drawing/2014/main" val="75274273"/>
                    </a:ext>
                  </a:extLst>
                </a:gridCol>
                <a:gridCol w="691958">
                  <a:extLst>
                    <a:ext uri="{9D8B030D-6E8A-4147-A177-3AD203B41FA5}">
                      <a16:colId xmlns:a16="http://schemas.microsoft.com/office/drawing/2014/main" val="3653566476"/>
                    </a:ext>
                  </a:extLst>
                </a:gridCol>
              </a:tblGrid>
              <a:tr h="3621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120434"/>
                  </a:ext>
                </a:extLst>
              </a:tr>
              <a:tr h="36214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47713"/>
                  </a:ext>
                </a:extLst>
              </a:tr>
              <a:tr h="36214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069200"/>
                  </a:ext>
                </a:extLst>
              </a:tr>
              <a:tr h="36214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5676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9C81B21-F437-966E-71C1-F0DFBE1AFE67}"/>
              </a:ext>
            </a:extLst>
          </p:cNvPr>
          <p:cNvSpPr txBox="1"/>
          <p:nvPr/>
        </p:nvSpPr>
        <p:spPr>
          <a:xfrm>
            <a:off x="6587836" y="3790372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8C379-744B-28ED-9636-AD67947CC8E7}"/>
              </a:ext>
            </a:extLst>
          </p:cNvPr>
          <p:cNvSpPr txBox="1"/>
          <p:nvPr/>
        </p:nvSpPr>
        <p:spPr>
          <a:xfrm>
            <a:off x="7945580" y="1806848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84198E-037F-CBBB-9A36-6D9A53DB67DF}"/>
              </a:ext>
            </a:extLst>
          </p:cNvPr>
          <p:cNvSpPr txBox="1"/>
          <p:nvPr/>
        </p:nvSpPr>
        <p:spPr>
          <a:xfrm>
            <a:off x="9254836" y="3790371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2DC215-08B7-D4D1-3EA8-3D94703F63EC}"/>
              </a:ext>
            </a:extLst>
          </p:cNvPr>
          <p:cNvSpPr txBox="1"/>
          <p:nvPr/>
        </p:nvSpPr>
        <p:spPr>
          <a:xfrm>
            <a:off x="8004463" y="3215364"/>
            <a:ext cx="297875" cy="3231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45C9A2-5D70-FCD9-7C46-653706BB57CE}"/>
              </a:ext>
            </a:extLst>
          </p:cNvPr>
          <p:cNvSpPr txBox="1"/>
          <p:nvPr/>
        </p:nvSpPr>
        <p:spPr>
          <a:xfrm>
            <a:off x="8025241" y="4589488"/>
            <a:ext cx="297875" cy="3231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AAEDA8-7BC4-3B8E-4D11-3A9CABBAF04D}"/>
              </a:ext>
            </a:extLst>
          </p:cNvPr>
          <p:cNvSpPr txBox="1"/>
          <p:nvPr/>
        </p:nvSpPr>
        <p:spPr>
          <a:xfrm>
            <a:off x="6438898" y="4160010"/>
            <a:ext cx="297875" cy="3231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3CFE1CD-5E38-7EC4-FCAD-C0A8F35C570E}"/>
              </a:ext>
            </a:extLst>
          </p:cNvPr>
          <p:cNvCxnSpPr>
            <a:endCxn id="13" idx="1"/>
          </p:cNvCxnSpPr>
          <p:nvPr/>
        </p:nvCxnSpPr>
        <p:spPr>
          <a:xfrm flipV="1">
            <a:off x="7045035" y="3376947"/>
            <a:ext cx="959428" cy="509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F86F05-4D2F-0BEC-DB85-778EC4E3FD0B}"/>
              </a:ext>
            </a:extLst>
          </p:cNvPr>
          <p:cNvCxnSpPr>
            <a:endCxn id="14" idx="1"/>
          </p:cNvCxnSpPr>
          <p:nvPr/>
        </p:nvCxnSpPr>
        <p:spPr>
          <a:xfrm>
            <a:off x="7045035" y="4160010"/>
            <a:ext cx="980206" cy="5910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0FE982-FB82-8CBD-589E-A5E384ACEF65}"/>
              </a:ext>
            </a:extLst>
          </p:cNvPr>
          <p:cNvCxnSpPr>
            <a:stCxn id="13" idx="3"/>
          </p:cNvCxnSpPr>
          <p:nvPr/>
        </p:nvCxnSpPr>
        <p:spPr>
          <a:xfrm>
            <a:off x="8302338" y="3376947"/>
            <a:ext cx="952498" cy="509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EFA9B0-22D9-CFD6-F8D6-D38D405B338F}"/>
              </a:ext>
            </a:extLst>
          </p:cNvPr>
          <p:cNvCxnSpPr>
            <a:stCxn id="14" idx="3"/>
          </p:cNvCxnSpPr>
          <p:nvPr/>
        </p:nvCxnSpPr>
        <p:spPr>
          <a:xfrm flipV="1">
            <a:off x="8323116" y="4160010"/>
            <a:ext cx="931720" cy="5910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5D733A7-47DB-5894-5CC7-1EA7E218AF2C}"/>
              </a:ext>
            </a:extLst>
          </p:cNvPr>
          <p:cNvCxnSpPr>
            <a:stCxn id="13" idx="0"/>
            <a:endCxn id="10" idx="2"/>
          </p:cNvCxnSpPr>
          <p:nvPr/>
        </p:nvCxnSpPr>
        <p:spPr>
          <a:xfrm flipV="1">
            <a:off x="8153401" y="2268513"/>
            <a:ext cx="20779" cy="9468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FACA62-F407-851D-EC98-FC1FCC607AAF}"/>
                  </a:ext>
                </a:extLst>
              </p:cNvPr>
              <p:cNvSpPr txBox="1"/>
              <p:nvPr/>
            </p:nvSpPr>
            <p:spPr>
              <a:xfrm>
                <a:off x="7897518" y="2526995"/>
                <a:ext cx="1205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FACA62-F407-851D-EC98-FC1FCC607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518" y="2526995"/>
                <a:ext cx="1205368" cy="369332"/>
              </a:xfrm>
              <a:prstGeom prst="rect">
                <a:avLst/>
              </a:prstGeom>
              <a:blipFill>
                <a:blip r:embed="rId2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EAC928-E7E0-C014-E142-EFAF9F6AC3B0}"/>
                  </a:ext>
                </a:extLst>
              </p:cNvPr>
              <p:cNvSpPr txBox="1"/>
              <p:nvPr/>
            </p:nvSpPr>
            <p:spPr>
              <a:xfrm rot="19960393">
                <a:off x="6856048" y="3327055"/>
                <a:ext cx="1205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EAC928-E7E0-C014-E142-EFAF9F6AC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960393">
                <a:off x="6856048" y="3327055"/>
                <a:ext cx="12053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B721528-AB81-DEC7-25A2-900D73352318}"/>
                  </a:ext>
                </a:extLst>
              </p:cNvPr>
              <p:cNvSpPr txBox="1"/>
              <p:nvPr/>
            </p:nvSpPr>
            <p:spPr>
              <a:xfrm rot="1839541">
                <a:off x="6872411" y="4384638"/>
                <a:ext cx="1205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B721528-AB81-DEC7-25A2-900D73352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39541">
                <a:off x="6872411" y="4384638"/>
                <a:ext cx="12053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E900F9B-8DB6-A72C-740C-9D18481936E8}"/>
                  </a:ext>
                </a:extLst>
              </p:cNvPr>
              <p:cNvSpPr txBox="1"/>
              <p:nvPr/>
            </p:nvSpPr>
            <p:spPr>
              <a:xfrm rot="19702227">
                <a:off x="8277566" y="4377518"/>
                <a:ext cx="1205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E900F9B-8DB6-A72C-740C-9D1848193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702227">
                <a:off x="8277566" y="4377518"/>
                <a:ext cx="12053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5779D5-81D4-E6D9-0387-3521ACA37EEF}"/>
                  </a:ext>
                </a:extLst>
              </p:cNvPr>
              <p:cNvSpPr txBox="1"/>
              <p:nvPr/>
            </p:nvSpPr>
            <p:spPr>
              <a:xfrm rot="1706999">
                <a:off x="8285436" y="3342164"/>
                <a:ext cx="12053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85779D5-81D4-E6D9-0387-3521ACA37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06999">
                <a:off x="8285436" y="3342164"/>
                <a:ext cx="120536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FB7C879-7511-4CC3-3185-8ABCD50AA11B}"/>
                  </a:ext>
                </a:extLst>
              </p:cNvPr>
              <p:cNvSpPr txBox="1"/>
              <p:nvPr/>
            </p:nvSpPr>
            <p:spPr>
              <a:xfrm>
                <a:off x="2135909" y="4850816"/>
                <a:ext cx="17295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FB7C879-7511-4CC3-3185-8ABCD50AA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909" y="4850816"/>
                <a:ext cx="1729509" cy="369332"/>
              </a:xfrm>
              <a:prstGeom prst="rect">
                <a:avLst/>
              </a:prstGeom>
              <a:blipFill>
                <a:blip r:embed="rId7"/>
                <a:stretch>
                  <a:fillRect l="-1056" t="-10000" r="-105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724639B-0B52-7CA0-8649-798D9EE8BA1C}"/>
                  </a:ext>
                </a:extLst>
              </p:cNvPr>
              <p:cNvSpPr txBox="1"/>
              <p:nvPr/>
            </p:nvSpPr>
            <p:spPr>
              <a:xfrm>
                <a:off x="1181102" y="3669066"/>
                <a:ext cx="8560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𝑃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724639B-0B52-7CA0-8649-798D9EE8B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2" y="3669066"/>
                <a:ext cx="856094" cy="369332"/>
              </a:xfrm>
              <a:prstGeom prst="rect">
                <a:avLst/>
              </a:prstGeom>
              <a:blipFill>
                <a:blip r:embed="rId8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D73D0D-5EE6-2815-8D0F-5EFBB058C2F6}"/>
                  </a:ext>
                </a:extLst>
              </p:cNvPr>
              <p:cNvSpPr txBox="1"/>
              <p:nvPr/>
            </p:nvSpPr>
            <p:spPr>
              <a:xfrm>
                <a:off x="7232069" y="5106606"/>
                <a:ext cx="188421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𝑐𝑜𝑠𝑡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𝐴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≈2</m:t>
                      </m:r>
                    </m:oMath>
                  </m:oMathPara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𝑐𝑜𝑠𝑡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𝐵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≈6</m:t>
                      </m:r>
                    </m:oMath>
                  </m:oMathPara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𝑐𝑜𝑠𝑡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≈4</m:t>
                      </m:r>
                    </m:oMath>
                  </m:oMathPara>
                </a14:m>
              </a:p>
              <a:p>
                <a:pPr algn="ctr"/>
              </a:p>
              <a:p>
                <a:pPr algn="ctr"/>
              </a:p>
              <a:p>
                <a:pPr algn="ctr"/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𝐵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≥3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D73D0D-5EE6-2815-8D0F-5EFBB058C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069" y="5106606"/>
                <a:ext cx="1884218" cy="1477328"/>
              </a:xfrm>
              <a:prstGeom prst="rect">
                <a:avLst/>
              </a:prstGeom>
              <a:blipFill>
                <a:blip r:embed="rId9"/>
                <a:stretch>
                  <a:fillRect t="-2893" b="-53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40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41" grpId="0"/>
      <p:bldP spid="42" grpId="0"/>
      <p:bldP spid="44" grpId="0"/>
      <p:bldP spid="45" grpId="0"/>
      <p:bldP spid="46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FA9D5-772B-B070-9387-55FC89DE1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198832-63F6-C0C8-20B0-A41F947E5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Review: Plurality Veto &amp; Plurality 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02140CE-0AFC-C059-41C8-34F8CB5284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709" y="1493116"/>
                <a:ext cx="10515600" cy="4351338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Plurality Matching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Gkatzelis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Halpern, and Shah 2020):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/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US" i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domination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 candidate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bipartite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with an edge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𝑣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weakly prefers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1"/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en-US" i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plurality matching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a subgraph such that the degree of each voter is 1 and the degree of each candidate is their plurality score.</a:t>
                </a:r>
              </a:p>
              <a:p>
                <a:pPr lvl="1"/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PM: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wins iff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 a plurality matching.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02140CE-0AFC-C059-41C8-34F8CB5284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709" y="1493116"/>
                <a:ext cx="10515600" cy="4351338"/>
              </a:xfrm>
              <a:blipFill>
                <a:blip r:embed="rId2"/>
                <a:stretch>
                  <a:fillRect l="-1043" t="-238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C4DC366-42ED-BFEE-CC74-CD55D4FE0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313" y="3739430"/>
            <a:ext cx="5015346" cy="30003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348A3B-8234-BC97-FA61-75625DF3E8B4}"/>
              </a:ext>
            </a:extLst>
          </p:cNvPr>
          <p:cNvSpPr txBox="1"/>
          <p:nvPr/>
        </p:nvSpPr>
        <p:spPr>
          <a:xfrm>
            <a:off x="1918855" y="4491631"/>
            <a:ext cx="2154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Plurality Matching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 distortion 3: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proof as PV</a:t>
            </a:r>
          </a:p>
        </p:txBody>
      </p:sp>
      <p:pic>
        <p:nvPicPr>
          <p:cNvPr id="1026" name="Picture 2" descr="Prasanna Ramakrishnan">
            <a:extLst>
              <a:ext uri="{FF2B5EF4-FFF2-40B4-BE49-F238E27FC236}">
                <a16:creationId xmlns:a16="http://schemas.microsoft.com/office/drawing/2014/main" id="{65650374-C4F1-1543-557C-3669757DD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756" y="3739430"/>
            <a:ext cx="2309308" cy="300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00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BCC1CB-D205-B2C5-BB54-5BD4BB1C6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215230"/>
              </p:ext>
            </p:extLst>
          </p:nvPr>
        </p:nvGraphicFramePr>
        <p:xfrm>
          <a:off x="1311242" y="1066799"/>
          <a:ext cx="2594720" cy="2869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680">
                  <a:extLst>
                    <a:ext uri="{9D8B030D-6E8A-4147-A177-3AD203B41FA5}">
                      <a16:colId xmlns:a16="http://schemas.microsoft.com/office/drawing/2014/main" val="3878536740"/>
                    </a:ext>
                  </a:extLst>
                </a:gridCol>
                <a:gridCol w="648680">
                  <a:extLst>
                    <a:ext uri="{9D8B030D-6E8A-4147-A177-3AD203B41FA5}">
                      <a16:colId xmlns:a16="http://schemas.microsoft.com/office/drawing/2014/main" val="4152294512"/>
                    </a:ext>
                  </a:extLst>
                </a:gridCol>
                <a:gridCol w="648680">
                  <a:extLst>
                    <a:ext uri="{9D8B030D-6E8A-4147-A177-3AD203B41FA5}">
                      <a16:colId xmlns:a16="http://schemas.microsoft.com/office/drawing/2014/main" val="833357899"/>
                    </a:ext>
                  </a:extLst>
                </a:gridCol>
                <a:gridCol w="648680">
                  <a:extLst>
                    <a:ext uri="{9D8B030D-6E8A-4147-A177-3AD203B41FA5}">
                      <a16:colId xmlns:a16="http://schemas.microsoft.com/office/drawing/2014/main" val="2208818828"/>
                    </a:ext>
                  </a:extLst>
                </a:gridCol>
              </a:tblGrid>
              <a:tr h="4727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624470"/>
                  </a:ext>
                </a:extLst>
              </a:tr>
              <a:tr h="47927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0976"/>
                  </a:ext>
                </a:extLst>
              </a:tr>
              <a:tr h="47927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467876"/>
                  </a:ext>
                </a:extLst>
              </a:tr>
              <a:tr h="4792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607861"/>
                  </a:ext>
                </a:extLst>
              </a:tr>
              <a:tr h="4792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12212"/>
                  </a:ext>
                </a:extLst>
              </a:tr>
              <a:tr h="47927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1251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75EDED17-24A1-E7EC-029D-8E8F0614E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968" y="516835"/>
            <a:ext cx="5046143" cy="375672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8549A3-8B67-7DB3-1D2B-3486D2DB3543}"/>
              </a:ext>
            </a:extLst>
          </p:cNvPr>
          <p:cNvSpPr txBox="1"/>
          <p:nvPr/>
        </p:nvSpPr>
        <p:spPr>
          <a:xfrm>
            <a:off x="1938028" y="4743272"/>
            <a:ext cx="2156675" cy="92333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Arguments for 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Condorcet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Borda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CE5C00-CB7C-5AE8-A4FE-8C53167AA1D4}"/>
              </a:ext>
            </a:extLst>
          </p:cNvPr>
          <p:cNvSpPr txBox="1"/>
          <p:nvPr/>
        </p:nvSpPr>
        <p:spPr>
          <a:xfrm>
            <a:off x="1473462" y="629478"/>
            <a:ext cx="2264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Election:</a:t>
            </a:r>
            <a:endParaRPr lang="en-US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8B7BF1-5B11-CF08-DE51-762DEB27C4F6}"/>
              </a:ext>
            </a:extLst>
          </p:cNvPr>
          <p:cNvSpPr txBox="1"/>
          <p:nvPr/>
        </p:nvSpPr>
        <p:spPr>
          <a:xfrm>
            <a:off x="4808804" y="4743272"/>
            <a:ext cx="1908327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Arguments for B: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Plurality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2708EF-ED0B-4941-CFC1-A41728E96CFB}"/>
              </a:ext>
            </a:extLst>
          </p:cNvPr>
          <p:cNvSpPr txBox="1"/>
          <p:nvPr/>
        </p:nvSpPr>
        <p:spPr>
          <a:xfrm>
            <a:off x="7604494" y="4748892"/>
            <a:ext cx="2775373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Arguments for C,D,E: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Plurality Matching</a:t>
            </a:r>
          </a:p>
        </p:txBody>
      </p:sp>
    </p:spTree>
    <p:extLst>
      <p:ext uri="{BB962C8B-B14F-4D97-AF65-F5344CB8AC3E}">
        <p14:creationId xmlns:p14="http://schemas.microsoft.com/office/powerpoint/2010/main" val="412863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620FD-704D-2070-0EE0-65F4200A4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DF48D6-27E0-8CD3-DA9B-9D13F10FA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Review: Plurality Veto &amp; Plurality 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50AEB78-B403-71C7-6D4C-611ACD5698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9709" y="1493116"/>
                <a:ext cx="10515600" cy="4351338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Plurality Matching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Gkatzelis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Halpern, and Shah 2020):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lvl="1"/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en-US" i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domination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 candidate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bipartite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with an edge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𝑣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weakly prefers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lvl="1"/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en-US" i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plurality matching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a subgraph such that the degree of each voter is 1 and the degree of each candidate is their plurality score.</a:t>
                </a:r>
              </a:p>
              <a:p>
                <a:pPr lvl="1"/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PM: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wins iff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 a plurality matching.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50AEB78-B403-71C7-6D4C-611ACD569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9709" y="1493116"/>
                <a:ext cx="10515600" cy="4351338"/>
              </a:xfrm>
              <a:blipFill>
                <a:blip r:embed="rId5"/>
                <a:stretch>
                  <a:fillRect l="-1043" t="-238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0D4E3A-D946-6271-FA37-EF02C7EE3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162902"/>
              </p:ext>
            </p:extLst>
          </p:nvPr>
        </p:nvGraphicFramePr>
        <p:xfrm>
          <a:off x="838200" y="4088188"/>
          <a:ext cx="214745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864">
                  <a:extLst>
                    <a:ext uri="{9D8B030D-6E8A-4147-A177-3AD203B41FA5}">
                      <a16:colId xmlns:a16="http://schemas.microsoft.com/office/drawing/2014/main" val="3878536740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4152294512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833357899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2208818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62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467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60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1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1251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08565A58-9AFA-75DA-F3AE-7538DF8140E0}"/>
              </a:ext>
            </a:extLst>
          </p:cNvPr>
          <p:cNvSpPr/>
          <p:nvPr/>
        </p:nvSpPr>
        <p:spPr>
          <a:xfrm>
            <a:off x="4655127" y="4170218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AC0CF1-7357-C1D6-BBFE-BEE3A3AEC232}"/>
              </a:ext>
            </a:extLst>
          </p:cNvPr>
          <p:cNvSpPr/>
          <p:nvPr/>
        </p:nvSpPr>
        <p:spPr>
          <a:xfrm>
            <a:off x="5666508" y="4170218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357F6F-4E13-9470-3C2A-352838BD48B8}"/>
              </a:ext>
            </a:extLst>
          </p:cNvPr>
          <p:cNvSpPr/>
          <p:nvPr/>
        </p:nvSpPr>
        <p:spPr>
          <a:xfrm>
            <a:off x="6677889" y="4170218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6AEBB0-3E40-37FA-1D3F-D14999ACF844}"/>
              </a:ext>
            </a:extLst>
          </p:cNvPr>
          <p:cNvSpPr/>
          <p:nvPr/>
        </p:nvSpPr>
        <p:spPr>
          <a:xfrm>
            <a:off x="7689270" y="4170218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6209D9-CB05-4D24-AA2B-7275D9E65D6D}"/>
              </a:ext>
            </a:extLst>
          </p:cNvPr>
          <p:cNvSpPr/>
          <p:nvPr/>
        </p:nvSpPr>
        <p:spPr>
          <a:xfrm>
            <a:off x="8697186" y="4170218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94221A-4149-871B-B480-0F04912D534E}"/>
              </a:ext>
            </a:extLst>
          </p:cNvPr>
          <p:cNvSpPr/>
          <p:nvPr/>
        </p:nvSpPr>
        <p:spPr>
          <a:xfrm>
            <a:off x="9705102" y="4170218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7410E2-78BE-20AC-C0B3-37757ACB9148}"/>
              </a:ext>
            </a:extLst>
          </p:cNvPr>
          <p:cNvSpPr/>
          <p:nvPr/>
        </p:nvSpPr>
        <p:spPr>
          <a:xfrm>
            <a:off x="10713018" y="4170218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0F1D17-515C-F18D-9378-AC16C7164A7B}"/>
              </a:ext>
            </a:extLst>
          </p:cNvPr>
          <p:cNvSpPr txBox="1"/>
          <p:nvPr/>
        </p:nvSpPr>
        <p:spPr>
          <a:xfrm>
            <a:off x="5077690" y="5749842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6C9291-45A7-2B31-162C-35D8A197A0AE}"/>
              </a:ext>
            </a:extLst>
          </p:cNvPr>
          <p:cNvSpPr txBox="1"/>
          <p:nvPr/>
        </p:nvSpPr>
        <p:spPr>
          <a:xfrm>
            <a:off x="8846118" y="5749839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34562A-0CF6-4978-4CE9-D363BF18E212}"/>
              </a:ext>
            </a:extLst>
          </p:cNvPr>
          <p:cNvSpPr txBox="1"/>
          <p:nvPr/>
        </p:nvSpPr>
        <p:spPr>
          <a:xfrm>
            <a:off x="7557652" y="5749841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C7EA03-2EFD-E64D-6B33-2E970B1A0546}"/>
              </a:ext>
            </a:extLst>
          </p:cNvPr>
          <p:cNvSpPr txBox="1"/>
          <p:nvPr/>
        </p:nvSpPr>
        <p:spPr>
          <a:xfrm>
            <a:off x="6317671" y="5749840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E9CB99-F5C8-7A04-D6AE-5527991DA835}"/>
              </a:ext>
            </a:extLst>
          </p:cNvPr>
          <p:cNvSpPr txBox="1"/>
          <p:nvPr/>
        </p:nvSpPr>
        <p:spPr>
          <a:xfrm>
            <a:off x="10037614" y="5749839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DA8C31-8F40-78C9-DB25-9242F388F32F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4826598" y="4335777"/>
            <a:ext cx="1567712" cy="1407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BBC82E-8887-8D24-80A9-EE2F5ADB494E}"/>
              </a:ext>
            </a:extLst>
          </p:cNvPr>
          <p:cNvCxnSpPr>
            <a:cxnSpLocks/>
            <a:stCxn id="7" idx="5"/>
            <a:endCxn id="17" idx="0"/>
          </p:cNvCxnSpPr>
          <p:nvPr/>
        </p:nvCxnSpPr>
        <p:spPr>
          <a:xfrm>
            <a:off x="5837979" y="4335777"/>
            <a:ext cx="708292" cy="1414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F345F3-54DF-16BC-59DB-548C02EBD6B3}"/>
              </a:ext>
            </a:extLst>
          </p:cNvPr>
          <p:cNvCxnSpPr>
            <a:cxnSpLocks/>
            <a:stCxn id="8" idx="4"/>
          </p:cNvCxnSpPr>
          <p:nvPr/>
        </p:nvCxnSpPr>
        <p:spPr>
          <a:xfrm flipH="1">
            <a:off x="6681354" y="4364182"/>
            <a:ext cx="96981" cy="1385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FD305D3-CE8B-5DAE-2563-1A4BC1A776E1}"/>
              </a:ext>
            </a:extLst>
          </p:cNvPr>
          <p:cNvCxnSpPr>
            <a:cxnSpLocks/>
            <a:stCxn id="9" idx="4"/>
            <a:endCxn id="15" idx="0"/>
          </p:cNvCxnSpPr>
          <p:nvPr/>
        </p:nvCxnSpPr>
        <p:spPr>
          <a:xfrm>
            <a:off x="7789716" y="4364182"/>
            <a:ext cx="1285002" cy="1385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ABC7C1-5201-CA2E-89A1-FBD9BA7DEB08}"/>
              </a:ext>
            </a:extLst>
          </p:cNvPr>
          <p:cNvCxnSpPr>
            <a:cxnSpLocks/>
            <a:stCxn id="10" idx="3"/>
            <a:endCxn id="16" idx="0"/>
          </p:cNvCxnSpPr>
          <p:nvPr/>
        </p:nvCxnSpPr>
        <p:spPr>
          <a:xfrm flipH="1">
            <a:off x="7786252" y="4335777"/>
            <a:ext cx="940354" cy="1414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ECAEF39-DCCD-ACEC-A5E4-C9EEFD55036C}"/>
              </a:ext>
            </a:extLst>
          </p:cNvPr>
          <p:cNvCxnSpPr>
            <a:stCxn id="11" idx="3"/>
            <a:endCxn id="16" idx="0"/>
          </p:cNvCxnSpPr>
          <p:nvPr/>
        </p:nvCxnSpPr>
        <p:spPr>
          <a:xfrm flipH="1">
            <a:off x="7786252" y="4335777"/>
            <a:ext cx="1948270" cy="1414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2F7637D-6C2F-867F-E144-CD5401630F9B}"/>
              </a:ext>
            </a:extLst>
          </p:cNvPr>
          <p:cNvCxnSpPr>
            <a:stCxn id="12" idx="3"/>
            <a:endCxn id="15" idx="0"/>
          </p:cNvCxnSpPr>
          <p:nvPr/>
        </p:nvCxnSpPr>
        <p:spPr>
          <a:xfrm flipH="1">
            <a:off x="9074718" y="4335777"/>
            <a:ext cx="1667720" cy="1414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6C6AB5A6-9DE5-B554-EAE4-093A087BA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2353"/>
              </p:ext>
            </p:extLst>
          </p:nvPr>
        </p:nvGraphicFramePr>
        <p:xfrm>
          <a:off x="838200" y="4088188"/>
          <a:ext cx="214745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864">
                  <a:extLst>
                    <a:ext uri="{9D8B030D-6E8A-4147-A177-3AD203B41FA5}">
                      <a16:colId xmlns:a16="http://schemas.microsoft.com/office/drawing/2014/main" val="3878536740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4152294512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833357899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2208818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62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467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60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1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1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92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A236-E378-042A-8F03-8AB1B83D1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9044E1-D4D6-94C2-EB1E-D2DE27118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Review: Plurality Veto &amp; Plurality Matching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B4F63A-D11C-D02A-76E8-CF03B68BA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307"/>
            <a:ext cx="10515600" cy="449204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Plurality Veto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(Kizilkaya and Kempe 2022):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candidate begins with “points” equal to their plurality score.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Voters are ordered.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order, each voter takes one point away from their least-favorite candidate who still has points.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last candidate to hit 0 points is the sole winner.</a:t>
            </a: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043713-2C74-FEC4-976B-E0ED30A99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789265"/>
              </p:ext>
            </p:extLst>
          </p:nvPr>
        </p:nvGraphicFramePr>
        <p:xfrm>
          <a:off x="976744" y="4078316"/>
          <a:ext cx="214745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864">
                  <a:extLst>
                    <a:ext uri="{9D8B030D-6E8A-4147-A177-3AD203B41FA5}">
                      <a16:colId xmlns:a16="http://schemas.microsoft.com/office/drawing/2014/main" val="3878536740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4152294512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833357899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2208818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62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467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60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1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12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8ECCEC-F2EE-D616-8964-ECE41B8ABB65}"/>
              </a:ext>
            </a:extLst>
          </p:cNvPr>
          <p:cNvSpPr txBox="1"/>
          <p:nvPr/>
        </p:nvSpPr>
        <p:spPr>
          <a:xfrm>
            <a:off x="3872345" y="4585855"/>
            <a:ext cx="74814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PV is a </a:t>
            </a:r>
            <a:r>
              <a:rPr lang="en-US" sz="2200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 case of PM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(connecting each voter with their veto makes a matching).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not all PM winners can win PV.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01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499C3A-E7B7-2AE3-D6F7-7F23CA8B2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146223"/>
              </p:ext>
            </p:extLst>
          </p:nvPr>
        </p:nvGraphicFramePr>
        <p:xfrm>
          <a:off x="1850736" y="635072"/>
          <a:ext cx="8490528" cy="5587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0176">
                  <a:extLst>
                    <a:ext uri="{9D8B030D-6E8A-4147-A177-3AD203B41FA5}">
                      <a16:colId xmlns:a16="http://schemas.microsoft.com/office/drawing/2014/main" val="3951527132"/>
                    </a:ext>
                  </a:extLst>
                </a:gridCol>
                <a:gridCol w="2830176">
                  <a:extLst>
                    <a:ext uri="{9D8B030D-6E8A-4147-A177-3AD203B41FA5}">
                      <a16:colId xmlns:a16="http://schemas.microsoft.com/office/drawing/2014/main" val="3358872223"/>
                    </a:ext>
                  </a:extLst>
                </a:gridCol>
                <a:gridCol w="2830176">
                  <a:extLst>
                    <a:ext uri="{9D8B030D-6E8A-4147-A177-3AD203B41FA5}">
                      <a16:colId xmlns:a16="http://schemas.microsoft.com/office/drawing/2014/main" val="1701207751"/>
                    </a:ext>
                  </a:extLst>
                </a:gridCol>
              </a:tblGrid>
              <a:tr h="7611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722675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Distortion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412030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Condorcet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319353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Majority Fair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564924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Unanimity Fair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879675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Pareto Efficient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447564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Monotonic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156755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Spoiler-proof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405767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Single-winner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724772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Easy to explain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325088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Anonymous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312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997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CD516-A98D-6087-6CFC-953EE1CA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244A5-A819-8B86-7962-30B5C3ECB1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207"/>
                <a:ext cx="10515600" cy="479684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 Plurality Veto and Plurality Matching: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can we characterize the set of PM winners?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can we characterize the PM winners which cannot win PV?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does vote order affect outcome of PV? Is it better to be early or late?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can we sensibly choose a canonical winner for PV (or PM)?</a:t>
                </a:r>
              </a:p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 Distortion:</a:t>
                </a:r>
              </a:p>
              <a:p>
                <a:pPr marL="914400" lvl="1" indent="-457200">
                  <a:buFont typeface="+mj-lt"/>
                  <a:buAutoNum type="arabicPeriod" startAt="5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how can we compute the distortion of each candidate?</a:t>
                </a:r>
              </a:p>
              <a:p>
                <a:pPr marL="914400" lvl="1" indent="-457200">
                  <a:buFont typeface="+mj-lt"/>
                  <a:buAutoNum type="arabicPeriod" startAt="5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 does distortion 3 (D3) behave as a fairness axiom?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2244A5-A819-8B86-7962-30B5C3ECB1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207"/>
                <a:ext cx="10515600" cy="4796848"/>
              </a:xfrm>
              <a:blipFill>
                <a:blip r:embed="rId7"/>
                <a:stretch>
                  <a:fillRect l="-1043" t="-2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060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4DD6-8A44-5DA0-1A61-4B0A6EBF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Q1: How to characterize PM winners?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A5CA4D-1FCF-4F5E-31CC-54A879E3AD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3164"/>
                <a:ext cx="10515600" cy="47637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: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: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 functions summing to 1 (distributions of  ‘power’ among voters / candidates).</a:t>
                </a:r>
              </a:p>
              <a:p>
                <a:pPr marL="0" indent="0">
                  <a:buNone/>
                </a:pP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candidate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en-US" sz="2400" i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vetoed</a:t>
                </a:r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by a subset of voters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’⊆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there is a subset of candidates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’⊆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4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not including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sz="24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such that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1. All voters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’ 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prefer all candidates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’ 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2.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’)+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&gt;1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Veto Core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the subset of candidates in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which are not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-vetoed by any subset of voters.</a:t>
                </a:r>
              </a:p>
              <a:p>
                <a:pPr marL="0" indent="0">
                  <a:buNone/>
                </a:pP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case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</m:t>
                    </m:r>
                    <m:r>
                      <m:rPr>
                        <m:lit/>
                      </m:rP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/</m:t>
                    </m:r>
                    <m:d>
                      <m:dPr>
                        <m:begChr m:val="|"/>
                        <m:endChr m:val="|"/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=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𝑝𝑙𝑢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), 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is the </a:t>
                </a:r>
                <a:r>
                  <a:rPr lang="en-US" sz="2400" b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Plurality Veto Core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(PVC).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A5CA4D-1FCF-4F5E-31CC-54A879E3AD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3164"/>
                <a:ext cx="10515600" cy="4763799"/>
              </a:xfrm>
              <a:blipFill>
                <a:blip r:embed="rId2"/>
                <a:stretch>
                  <a:fillRect l="-928" t="-1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902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6605-8F80-B349-A3F5-E8A20B9AC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48530A1-EED8-C80D-B441-32D8E437E8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3116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i="1" dirty="0">
                    <a:solidFill>
                      <a:schemeClr val="accent2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Theorem</a:t>
                </a:r>
                <a:r>
                  <a:rPr lang="en-US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(Kizilkaya Kempe 2025): </a:t>
                </a:r>
                <a:endParaRPr lang="en-US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in the PVC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⟺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has a plurality matching. </a:t>
                </a:r>
              </a:p>
              <a:p>
                <a:pPr marL="0" indent="0">
                  <a:buNone/>
                </a:pPr>
                <a:endParaRPr lang="en-US" b="1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Proof: 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Hall’s marriage theorem.</a:t>
                </a:r>
              </a:p>
              <a:p>
                <a:pPr marL="0" indent="0">
                  <a:buNone/>
                </a:pPr>
                <a:endParaRPr lang="en-US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48530A1-EED8-C80D-B441-32D8E437E8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3116"/>
                <a:ext cx="10515600" cy="4351338"/>
              </a:xfrm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D7DC4701-5699-337C-BABB-820564C47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Q1: How to characterize PM winners?</a:t>
            </a:r>
          </a:p>
        </p:txBody>
      </p:sp>
    </p:spTree>
    <p:extLst>
      <p:ext uri="{BB962C8B-B14F-4D97-AF65-F5344CB8AC3E}">
        <p14:creationId xmlns:p14="http://schemas.microsoft.com/office/powerpoint/2010/main" val="2297264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663C-3C25-6809-72BF-AB1735F7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A8CCA-E8AE-2652-D439-FFDDA60BB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1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Serial Veto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(Kizilkaya Kempe 2025): 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voters in some way.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 candidates one point for each first-place vote.</a:t>
            </a:r>
          </a:p>
          <a:p>
            <a:pPr lvl="1"/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candidates are initially in contention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even those with 0 points.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Vetoing a 0-point candidate knocks them out and doesn’t expend a veto.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ABCE0F7-E50F-21E5-448C-43CC1157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80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Q2: How to characterize PM - PV?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47BF96-F694-2DE3-92D1-F312F7DF5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617389"/>
              </p:ext>
            </p:extLst>
          </p:nvPr>
        </p:nvGraphicFramePr>
        <p:xfrm>
          <a:off x="914400" y="4109403"/>
          <a:ext cx="214745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864">
                  <a:extLst>
                    <a:ext uri="{9D8B030D-6E8A-4147-A177-3AD203B41FA5}">
                      <a16:colId xmlns:a16="http://schemas.microsoft.com/office/drawing/2014/main" val="3878536740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4152294512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833357899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2208818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62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467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60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1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125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EBC1236-2F3F-8EB4-17DA-1002D7FDB2F4}"/>
              </a:ext>
            </a:extLst>
          </p:cNvPr>
          <p:cNvSpPr txBox="1"/>
          <p:nvPr/>
        </p:nvSpPr>
        <p:spPr>
          <a:xfrm>
            <a:off x="4371109" y="4336473"/>
            <a:ext cx="6137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Interesting fact: </a:t>
            </a:r>
            <a:r>
              <a:rPr lang="en-US" dirty="0"/>
              <a:t>the SV winner set (for a given ordering of voters) is convex in any metric embedding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8248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4AC9-A863-C898-C302-48E8BF43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BB11DF-735A-9BE4-08A4-75CEEBFA1C8D}"/>
              </a:ext>
            </a:extLst>
          </p:cNvPr>
          <p:cNvSpPr txBox="1">
            <a:spLocks/>
          </p:cNvSpPr>
          <p:nvPr/>
        </p:nvSpPr>
        <p:spPr>
          <a:xfrm>
            <a:off x="990600" y="1565564"/>
            <a:ext cx="10515600" cy="4763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0EA47-6F5F-D6FC-7DD1-0AF7A5C94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1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Theorem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(Kizilkaya Kempe 2025):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each instance of SV, the winners share a single plurality matching.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set of possible SV winners is exactly the set of PM winners.</a:t>
            </a: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E82A13-265B-A81A-037A-35C43D90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80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Q2: How to characterize PM - PV?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DCA681-612C-70FA-7833-BF0E4583F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234640"/>
              </p:ext>
            </p:extLst>
          </p:nvPr>
        </p:nvGraphicFramePr>
        <p:xfrm>
          <a:off x="914400" y="4109403"/>
          <a:ext cx="214745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864">
                  <a:extLst>
                    <a:ext uri="{9D8B030D-6E8A-4147-A177-3AD203B41FA5}">
                      <a16:colId xmlns:a16="http://schemas.microsoft.com/office/drawing/2014/main" val="3878536740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4152294512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833357899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2208818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62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467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60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1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1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69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DF4D-40B3-A164-0BF2-88B765E4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90525A-6B1A-26E2-F5DE-8ED6FCF9E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16"/>
            <a:ext cx="10515600" cy="693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a voter, where is the best place to be in the vote-order?</a:t>
            </a: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3F1C0FE-68B4-A26E-D045-54D49E5D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80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Q3: How does vote order affect PV?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38F895F-65E4-2C84-09FD-49BCF97145A5}"/>
              </a:ext>
            </a:extLst>
          </p:cNvPr>
          <p:cNvSpPr txBox="1">
            <a:spLocks/>
          </p:cNvSpPr>
          <p:nvPr/>
        </p:nvSpPr>
        <p:spPr>
          <a:xfrm>
            <a:off x="838200" y="2693555"/>
            <a:ext cx="10515600" cy="69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Last.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B6DBB13-BCD7-23E3-9096-AC66A07B0266}"/>
              </a:ext>
            </a:extLst>
          </p:cNvPr>
          <p:cNvSpPr txBox="1">
            <a:spLocks/>
          </p:cNvSpPr>
          <p:nvPr/>
        </p:nvSpPr>
        <p:spPr>
          <a:xfrm>
            <a:off x="838200" y="3893994"/>
            <a:ext cx="10515600" cy="69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it always better to be later?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6CD93D4-666A-9870-86CE-B700C340BA61}"/>
              </a:ext>
            </a:extLst>
          </p:cNvPr>
          <p:cNvSpPr txBox="1">
            <a:spLocks/>
          </p:cNvSpPr>
          <p:nvPr/>
        </p:nvSpPr>
        <p:spPr>
          <a:xfrm>
            <a:off x="838200" y="5204842"/>
            <a:ext cx="10515600" cy="693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???</a:t>
            </a:r>
          </a:p>
        </p:txBody>
      </p:sp>
    </p:spTree>
    <p:extLst>
      <p:ext uri="{BB962C8B-B14F-4D97-AF65-F5344CB8AC3E}">
        <p14:creationId xmlns:p14="http://schemas.microsoft.com/office/powerpoint/2010/main" val="14728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463BF-BEE5-7DCE-3178-67507CF2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9176D46-43DC-8BBE-47D9-7F59F9DD6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690" y="1344145"/>
            <a:ext cx="5808865" cy="538916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7926B-9BFA-2D46-3D53-319984ACC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16"/>
            <a:ext cx="50569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114B14A-9766-1E24-B339-637178E8D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50"/>
            <a:ext cx="106680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Q4: Choosing a canonical PV/PM winner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7B38DD87-63D9-97AC-B79F-57C9E107D6BD}"/>
              </a:ext>
            </a:extLst>
          </p:cNvPr>
          <p:cNvSpPr txBox="1">
            <a:spLocks/>
          </p:cNvSpPr>
          <p:nvPr/>
        </p:nvSpPr>
        <p:spPr>
          <a:xfrm>
            <a:off x="838200" y="1609854"/>
            <a:ext cx="4904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Simultaneous Plurality Veto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(Kizilkaya Kempe 2025): 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Candidates begin with points equal to their plurality score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time 0 to 1, all voters drain points from their least-preferred candidate remaining at a rate of 1 point / second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 SV, a candidate is eliminated if anyone vetoes them while at 0 points</a:t>
            </a:r>
          </a:p>
          <a:p>
            <a:pPr lvl="1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F0C65B-C29C-3245-C92D-4D37508F5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535451"/>
              </p:ext>
            </p:extLst>
          </p:nvPr>
        </p:nvGraphicFramePr>
        <p:xfrm>
          <a:off x="9665708" y="1531360"/>
          <a:ext cx="214745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864">
                  <a:extLst>
                    <a:ext uri="{9D8B030D-6E8A-4147-A177-3AD203B41FA5}">
                      <a16:colId xmlns:a16="http://schemas.microsoft.com/office/drawing/2014/main" val="3878536740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4152294512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833357899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2208818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62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467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60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1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125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35E6D8F-0F07-06DB-526D-3FDF105294ED}"/>
              </a:ext>
            </a:extLst>
          </p:cNvPr>
          <p:cNvSpPr txBox="1"/>
          <p:nvPr/>
        </p:nvSpPr>
        <p:spPr>
          <a:xfrm>
            <a:off x="6809509" y="1690688"/>
            <a:ext cx="42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9A670-246A-BA95-14E5-D3EFE2A875A9}"/>
              </a:ext>
            </a:extLst>
          </p:cNvPr>
          <p:cNvSpPr txBox="1"/>
          <p:nvPr/>
        </p:nvSpPr>
        <p:spPr>
          <a:xfrm>
            <a:off x="6809508" y="3566654"/>
            <a:ext cx="42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452F93-17A1-363E-3F7F-35ABC2637CF8}"/>
              </a:ext>
            </a:extLst>
          </p:cNvPr>
          <p:cNvSpPr txBox="1"/>
          <p:nvPr/>
        </p:nvSpPr>
        <p:spPr>
          <a:xfrm>
            <a:off x="6809507" y="3003345"/>
            <a:ext cx="42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B5DF1-6A9E-7E17-74FA-4276307CE8A2}"/>
              </a:ext>
            </a:extLst>
          </p:cNvPr>
          <p:cNvSpPr txBox="1"/>
          <p:nvPr/>
        </p:nvSpPr>
        <p:spPr>
          <a:xfrm>
            <a:off x="6380016" y="6155905"/>
            <a:ext cx="42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C2362-EBE1-1561-370F-8E36E5EA1B5A}"/>
              </a:ext>
            </a:extLst>
          </p:cNvPr>
          <p:cNvSpPr txBox="1"/>
          <p:nvPr/>
        </p:nvSpPr>
        <p:spPr>
          <a:xfrm>
            <a:off x="7135088" y="6155905"/>
            <a:ext cx="42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3029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92FBC-6111-34F8-6FD1-EA9F3A0AB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0EBDBDF-8B28-E352-9A86-F7E74DB40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618" y="1357397"/>
            <a:ext cx="5220048" cy="538916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C59C5-09C9-1712-9BFA-7EF9BBE0E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16"/>
            <a:ext cx="50569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A2CDF8-BF2C-891C-0192-A33389A9F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13045"/>
              </p:ext>
            </p:extLst>
          </p:nvPr>
        </p:nvGraphicFramePr>
        <p:xfrm>
          <a:off x="10391549" y="1493116"/>
          <a:ext cx="1703468" cy="2197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867">
                  <a:extLst>
                    <a:ext uri="{9D8B030D-6E8A-4147-A177-3AD203B41FA5}">
                      <a16:colId xmlns:a16="http://schemas.microsoft.com/office/drawing/2014/main" val="3878536740"/>
                    </a:ext>
                  </a:extLst>
                </a:gridCol>
                <a:gridCol w="425867">
                  <a:extLst>
                    <a:ext uri="{9D8B030D-6E8A-4147-A177-3AD203B41FA5}">
                      <a16:colId xmlns:a16="http://schemas.microsoft.com/office/drawing/2014/main" val="4152294512"/>
                    </a:ext>
                  </a:extLst>
                </a:gridCol>
                <a:gridCol w="425867">
                  <a:extLst>
                    <a:ext uri="{9D8B030D-6E8A-4147-A177-3AD203B41FA5}">
                      <a16:colId xmlns:a16="http://schemas.microsoft.com/office/drawing/2014/main" val="833357899"/>
                    </a:ext>
                  </a:extLst>
                </a:gridCol>
                <a:gridCol w="425867">
                  <a:extLst>
                    <a:ext uri="{9D8B030D-6E8A-4147-A177-3AD203B41FA5}">
                      <a16:colId xmlns:a16="http://schemas.microsoft.com/office/drawing/2014/main" val="2208818828"/>
                    </a:ext>
                  </a:extLst>
                </a:gridCol>
              </a:tblGrid>
              <a:tr h="36881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624470"/>
                  </a:ext>
                </a:extLst>
              </a:tr>
              <a:tr h="3281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0976"/>
                  </a:ext>
                </a:extLst>
              </a:tr>
              <a:tr h="3281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467876"/>
                  </a:ext>
                </a:extLst>
              </a:tr>
              <a:tr h="3281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607861"/>
                  </a:ext>
                </a:extLst>
              </a:tr>
              <a:tr h="3281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12212"/>
                  </a:ext>
                </a:extLst>
              </a:tr>
              <a:tr h="32813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125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3BF64D1-5046-3E3D-8C10-98E8995EC0EA}"/>
              </a:ext>
            </a:extLst>
          </p:cNvPr>
          <p:cNvSpPr txBox="1"/>
          <p:nvPr/>
        </p:nvSpPr>
        <p:spPr>
          <a:xfrm>
            <a:off x="7566594" y="1690688"/>
            <a:ext cx="42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3805F-A41C-7C63-A603-33E2D8D62ACE}"/>
              </a:ext>
            </a:extLst>
          </p:cNvPr>
          <p:cNvSpPr txBox="1"/>
          <p:nvPr/>
        </p:nvSpPr>
        <p:spPr>
          <a:xfrm>
            <a:off x="7538958" y="3576278"/>
            <a:ext cx="42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6C9D06-C9C7-A152-F834-5EB49E066507}"/>
              </a:ext>
            </a:extLst>
          </p:cNvPr>
          <p:cNvSpPr txBox="1"/>
          <p:nvPr/>
        </p:nvSpPr>
        <p:spPr>
          <a:xfrm>
            <a:off x="7538959" y="2958468"/>
            <a:ext cx="42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00A932-D183-3AAC-2AA2-ABC29E1CF1DD}"/>
              </a:ext>
            </a:extLst>
          </p:cNvPr>
          <p:cNvSpPr txBox="1"/>
          <p:nvPr/>
        </p:nvSpPr>
        <p:spPr>
          <a:xfrm>
            <a:off x="7181429" y="6175363"/>
            <a:ext cx="42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4828F1-B84A-2063-F9EE-1946E8E9E7E4}"/>
              </a:ext>
            </a:extLst>
          </p:cNvPr>
          <p:cNvSpPr txBox="1"/>
          <p:nvPr/>
        </p:nvSpPr>
        <p:spPr>
          <a:xfrm>
            <a:off x="8654173" y="6202287"/>
            <a:ext cx="42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6C0E9F4-F232-AF35-BDB4-754FDE5BBD3A}"/>
              </a:ext>
            </a:extLst>
          </p:cNvPr>
          <p:cNvSpPr/>
          <p:nvPr/>
        </p:nvSpPr>
        <p:spPr>
          <a:xfrm>
            <a:off x="361423" y="4503406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EBB317-F62B-D929-34B4-A54CE3348FD0}"/>
              </a:ext>
            </a:extLst>
          </p:cNvPr>
          <p:cNvSpPr/>
          <p:nvPr/>
        </p:nvSpPr>
        <p:spPr>
          <a:xfrm>
            <a:off x="1372804" y="4503406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7D711B6-BAC7-4D15-833F-D675D228712F}"/>
              </a:ext>
            </a:extLst>
          </p:cNvPr>
          <p:cNvSpPr/>
          <p:nvPr/>
        </p:nvSpPr>
        <p:spPr>
          <a:xfrm>
            <a:off x="2384185" y="4503406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01E9E4D-E164-D06E-9222-F515798077E5}"/>
              </a:ext>
            </a:extLst>
          </p:cNvPr>
          <p:cNvSpPr/>
          <p:nvPr/>
        </p:nvSpPr>
        <p:spPr>
          <a:xfrm>
            <a:off x="3395566" y="4503406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DB2913D-6A89-B7B8-1513-DC0AFA9C7B14}"/>
              </a:ext>
            </a:extLst>
          </p:cNvPr>
          <p:cNvSpPr/>
          <p:nvPr/>
        </p:nvSpPr>
        <p:spPr>
          <a:xfrm>
            <a:off x="4403482" y="4503406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E418BDD-B2EE-7EC9-F482-69FEF933FEBD}"/>
              </a:ext>
            </a:extLst>
          </p:cNvPr>
          <p:cNvSpPr/>
          <p:nvPr/>
        </p:nvSpPr>
        <p:spPr>
          <a:xfrm>
            <a:off x="5411398" y="4503406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2BE4BA4-079C-64E1-DE8C-68BB2E32982F}"/>
              </a:ext>
            </a:extLst>
          </p:cNvPr>
          <p:cNvSpPr/>
          <p:nvPr/>
        </p:nvSpPr>
        <p:spPr>
          <a:xfrm>
            <a:off x="6419314" y="4503406"/>
            <a:ext cx="200891" cy="1939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46385D-82AF-6EA1-603C-B4731EC9707E}"/>
              </a:ext>
            </a:extLst>
          </p:cNvPr>
          <p:cNvSpPr txBox="1"/>
          <p:nvPr/>
        </p:nvSpPr>
        <p:spPr>
          <a:xfrm>
            <a:off x="783986" y="6083030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367025-F1E2-40ED-8DEF-6992E990BE6F}"/>
              </a:ext>
            </a:extLst>
          </p:cNvPr>
          <p:cNvSpPr txBox="1"/>
          <p:nvPr/>
        </p:nvSpPr>
        <p:spPr>
          <a:xfrm>
            <a:off x="4552414" y="6083027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B23D3E-3B38-A5BA-FA1B-B62CD6686955}"/>
              </a:ext>
            </a:extLst>
          </p:cNvPr>
          <p:cNvSpPr txBox="1"/>
          <p:nvPr/>
        </p:nvSpPr>
        <p:spPr>
          <a:xfrm>
            <a:off x="3263948" y="6083029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637DCF-18FB-13FD-1456-6F38D9F293E6}"/>
              </a:ext>
            </a:extLst>
          </p:cNvPr>
          <p:cNvSpPr txBox="1"/>
          <p:nvPr/>
        </p:nvSpPr>
        <p:spPr>
          <a:xfrm>
            <a:off x="2023967" y="6083028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293252-493C-1317-776A-B95ADE532767}"/>
              </a:ext>
            </a:extLst>
          </p:cNvPr>
          <p:cNvSpPr txBox="1"/>
          <p:nvPr/>
        </p:nvSpPr>
        <p:spPr>
          <a:xfrm>
            <a:off x="5743910" y="6083027"/>
            <a:ext cx="457199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106DCB9-C1B0-817A-5D81-FB18815DB371}"/>
              </a:ext>
            </a:extLst>
          </p:cNvPr>
          <p:cNvCxnSpPr>
            <a:cxnSpLocks/>
            <a:stCxn id="37" idx="5"/>
          </p:cNvCxnSpPr>
          <p:nvPr/>
        </p:nvCxnSpPr>
        <p:spPr>
          <a:xfrm>
            <a:off x="532894" y="4668965"/>
            <a:ext cx="1567712" cy="140730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72996F9-6FDC-D5B7-B7AA-E482F724420C}"/>
              </a:ext>
            </a:extLst>
          </p:cNvPr>
          <p:cNvCxnSpPr>
            <a:cxnSpLocks/>
            <a:stCxn id="38" idx="5"/>
            <a:endCxn id="47" idx="0"/>
          </p:cNvCxnSpPr>
          <p:nvPr/>
        </p:nvCxnSpPr>
        <p:spPr>
          <a:xfrm>
            <a:off x="1544275" y="4668965"/>
            <a:ext cx="708292" cy="141406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5651285-2C2B-14BE-3226-B53E17F67B4A}"/>
              </a:ext>
            </a:extLst>
          </p:cNvPr>
          <p:cNvCxnSpPr>
            <a:cxnSpLocks/>
            <a:stCxn id="39" idx="4"/>
          </p:cNvCxnSpPr>
          <p:nvPr/>
        </p:nvCxnSpPr>
        <p:spPr>
          <a:xfrm flipH="1">
            <a:off x="2384185" y="4697370"/>
            <a:ext cx="100446" cy="1378897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64EC2AF-2650-8263-DE2F-CC42F37DF860}"/>
              </a:ext>
            </a:extLst>
          </p:cNvPr>
          <p:cNvCxnSpPr>
            <a:cxnSpLocks/>
            <a:stCxn id="40" idx="5"/>
            <a:endCxn id="45" idx="0"/>
          </p:cNvCxnSpPr>
          <p:nvPr/>
        </p:nvCxnSpPr>
        <p:spPr>
          <a:xfrm>
            <a:off x="3567037" y="4668965"/>
            <a:ext cx="1213977" cy="141406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4C8160F-52F2-1E82-54AE-4C7DBF06D384}"/>
              </a:ext>
            </a:extLst>
          </p:cNvPr>
          <p:cNvCxnSpPr>
            <a:cxnSpLocks/>
            <a:stCxn id="41" idx="3"/>
            <a:endCxn id="46" idx="0"/>
          </p:cNvCxnSpPr>
          <p:nvPr/>
        </p:nvCxnSpPr>
        <p:spPr>
          <a:xfrm flipH="1">
            <a:off x="3492548" y="4668965"/>
            <a:ext cx="940354" cy="1414064"/>
          </a:xfrm>
          <a:prstGeom prst="straightConnector1">
            <a:avLst/>
          </a:prstGeom>
          <a:ln w="889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49DB998-0B50-21E2-CC9D-5F70C52B9AA3}"/>
              </a:ext>
            </a:extLst>
          </p:cNvPr>
          <p:cNvCxnSpPr>
            <a:stCxn id="42" idx="3"/>
            <a:endCxn id="46" idx="0"/>
          </p:cNvCxnSpPr>
          <p:nvPr/>
        </p:nvCxnSpPr>
        <p:spPr>
          <a:xfrm flipH="1">
            <a:off x="3492548" y="4668965"/>
            <a:ext cx="1948270" cy="1414064"/>
          </a:xfrm>
          <a:prstGeom prst="straightConnector1">
            <a:avLst/>
          </a:prstGeom>
          <a:ln w="889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F0C7A06-7D70-B6AC-5D38-68EAB3C083A3}"/>
              </a:ext>
            </a:extLst>
          </p:cNvPr>
          <p:cNvCxnSpPr>
            <a:stCxn id="43" idx="3"/>
            <a:endCxn id="45" idx="0"/>
          </p:cNvCxnSpPr>
          <p:nvPr/>
        </p:nvCxnSpPr>
        <p:spPr>
          <a:xfrm flipH="1">
            <a:off x="4781014" y="4668965"/>
            <a:ext cx="1667720" cy="1414062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2DD44101-AAF1-8FB2-B306-357D7B481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918776"/>
              </p:ext>
            </p:extLst>
          </p:nvPr>
        </p:nvGraphicFramePr>
        <p:xfrm>
          <a:off x="1594662" y="1690688"/>
          <a:ext cx="38339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780">
                  <a:extLst>
                    <a:ext uri="{9D8B030D-6E8A-4147-A177-3AD203B41FA5}">
                      <a16:colId xmlns:a16="http://schemas.microsoft.com/office/drawing/2014/main" val="3704211262"/>
                    </a:ext>
                  </a:extLst>
                </a:gridCol>
                <a:gridCol w="766780">
                  <a:extLst>
                    <a:ext uri="{9D8B030D-6E8A-4147-A177-3AD203B41FA5}">
                      <a16:colId xmlns:a16="http://schemas.microsoft.com/office/drawing/2014/main" val="4039625183"/>
                    </a:ext>
                  </a:extLst>
                </a:gridCol>
                <a:gridCol w="766780">
                  <a:extLst>
                    <a:ext uri="{9D8B030D-6E8A-4147-A177-3AD203B41FA5}">
                      <a16:colId xmlns:a16="http://schemas.microsoft.com/office/drawing/2014/main" val="1944684899"/>
                    </a:ext>
                  </a:extLst>
                </a:gridCol>
                <a:gridCol w="766780">
                  <a:extLst>
                    <a:ext uri="{9D8B030D-6E8A-4147-A177-3AD203B41FA5}">
                      <a16:colId xmlns:a16="http://schemas.microsoft.com/office/drawing/2014/main" val="1857956952"/>
                    </a:ext>
                  </a:extLst>
                </a:gridCol>
                <a:gridCol w="766780">
                  <a:extLst>
                    <a:ext uri="{9D8B030D-6E8A-4147-A177-3AD203B41FA5}">
                      <a16:colId xmlns:a16="http://schemas.microsoft.com/office/drawing/2014/main" val="300911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02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209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¾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¾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850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296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419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904178"/>
                  </a:ext>
                </a:extLst>
              </a:tr>
            </a:tbl>
          </a:graphicData>
        </a:graphic>
      </p:graphicFrame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BD20FF3-51DF-E0B6-E9C7-EA1D645F8268}"/>
              </a:ext>
            </a:extLst>
          </p:cNvPr>
          <p:cNvCxnSpPr>
            <a:cxnSpLocks/>
            <a:stCxn id="40" idx="3"/>
          </p:cNvCxnSpPr>
          <p:nvPr/>
        </p:nvCxnSpPr>
        <p:spPr>
          <a:xfrm flipH="1">
            <a:off x="2488095" y="4668965"/>
            <a:ext cx="936891" cy="141406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866F83B-9C0F-C251-E8A7-DDA1B4B299B2}"/>
              </a:ext>
            </a:extLst>
          </p:cNvPr>
          <p:cNvCxnSpPr>
            <a:cxnSpLocks/>
            <a:stCxn id="39" idx="5"/>
          </p:cNvCxnSpPr>
          <p:nvPr/>
        </p:nvCxnSpPr>
        <p:spPr>
          <a:xfrm>
            <a:off x="2555656" y="4668965"/>
            <a:ext cx="2079891" cy="141406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D8ED474-8E54-228C-2F48-61EB8D2DCCE5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562314" y="4600388"/>
            <a:ext cx="2701634" cy="1475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367CDAE-2F9F-BF8A-5D56-6B6FDD1DCD78}"/>
              </a:ext>
            </a:extLst>
          </p:cNvPr>
          <p:cNvCxnSpPr>
            <a:cxnSpLocks/>
            <a:stCxn id="38" idx="5"/>
          </p:cNvCxnSpPr>
          <p:nvPr/>
        </p:nvCxnSpPr>
        <p:spPr>
          <a:xfrm>
            <a:off x="1544275" y="4668965"/>
            <a:ext cx="1851291" cy="1407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D071B80-505E-E255-51F7-28775512E449}"/>
              </a:ext>
            </a:extLst>
          </p:cNvPr>
          <p:cNvCxnSpPr>
            <a:stCxn id="37" idx="6"/>
          </p:cNvCxnSpPr>
          <p:nvPr/>
        </p:nvCxnSpPr>
        <p:spPr>
          <a:xfrm>
            <a:off x="562314" y="4600388"/>
            <a:ext cx="4042059" cy="1482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03821CA-A2A8-DF29-DCBB-CDD0EA3DDF39}"/>
              </a:ext>
            </a:extLst>
          </p:cNvPr>
          <p:cNvCxnSpPr>
            <a:stCxn id="38" idx="6"/>
          </p:cNvCxnSpPr>
          <p:nvPr/>
        </p:nvCxnSpPr>
        <p:spPr>
          <a:xfrm>
            <a:off x="1573695" y="4600388"/>
            <a:ext cx="3061852" cy="1475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1AC5759-11FC-8A99-F431-A2F7CAB15FEC}"/>
              </a:ext>
            </a:extLst>
          </p:cNvPr>
          <p:cNvCxnSpPr>
            <a:stCxn id="41" idx="5"/>
            <a:endCxn id="45" idx="0"/>
          </p:cNvCxnSpPr>
          <p:nvPr/>
        </p:nvCxnSpPr>
        <p:spPr>
          <a:xfrm>
            <a:off x="4574953" y="4668965"/>
            <a:ext cx="206061" cy="1414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1310433-0285-E659-9D3B-0DFB951E847B}"/>
              </a:ext>
            </a:extLst>
          </p:cNvPr>
          <p:cNvCxnSpPr>
            <a:stCxn id="42" idx="3"/>
            <a:endCxn id="45" idx="0"/>
          </p:cNvCxnSpPr>
          <p:nvPr/>
        </p:nvCxnSpPr>
        <p:spPr>
          <a:xfrm flipH="1">
            <a:off x="4781014" y="4668965"/>
            <a:ext cx="659804" cy="14140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itle 1">
            <a:extLst>
              <a:ext uri="{FF2B5EF4-FFF2-40B4-BE49-F238E27FC236}">
                <a16:creationId xmlns:a16="http://schemas.microsoft.com/office/drawing/2014/main" id="{721C05B1-86C1-14FA-295B-FCA740EE2B91}"/>
              </a:ext>
            </a:extLst>
          </p:cNvPr>
          <p:cNvSpPr txBox="1">
            <a:spLocks/>
          </p:cNvSpPr>
          <p:nvPr/>
        </p:nvSpPr>
        <p:spPr>
          <a:xfrm>
            <a:off x="838200" y="106550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Q4: Choosing a canonical PV/PM winner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07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06BA7-3E60-CBA8-4BCF-04E6683F9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12DADC5-EDFF-4926-1943-2837CB1E9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733999"/>
              </p:ext>
            </p:extLst>
          </p:nvPr>
        </p:nvGraphicFramePr>
        <p:xfrm>
          <a:off x="1850736" y="635072"/>
          <a:ext cx="8490528" cy="5587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2632">
                  <a:extLst>
                    <a:ext uri="{9D8B030D-6E8A-4147-A177-3AD203B41FA5}">
                      <a16:colId xmlns:a16="http://schemas.microsoft.com/office/drawing/2014/main" val="3951527132"/>
                    </a:ext>
                  </a:extLst>
                </a:gridCol>
                <a:gridCol w="2122632">
                  <a:extLst>
                    <a:ext uri="{9D8B030D-6E8A-4147-A177-3AD203B41FA5}">
                      <a16:colId xmlns:a16="http://schemas.microsoft.com/office/drawing/2014/main" val="3358872223"/>
                    </a:ext>
                  </a:extLst>
                </a:gridCol>
                <a:gridCol w="2122632">
                  <a:extLst>
                    <a:ext uri="{9D8B030D-6E8A-4147-A177-3AD203B41FA5}">
                      <a16:colId xmlns:a16="http://schemas.microsoft.com/office/drawing/2014/main" val="1701207751"/>
                    </a:ext>
                  </a:extLst>
                </a:gridCol>
                <a:gridCol w="2122632">
                  <a:extLst>
                    <a:ext uri="{9D8B030D-6E8A-4147-A177-3AD203B41FA5}">
                      <a16:colId xmlns:a16="http://schemas.microsoft.com/office/drawing/2014/main" val="2896390289"/>
                    </a:ext>
                  </a:extLst>
                </a:gridCol>
              </a:tblGrid>
              <a:tr h="7611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722675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Distortion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412030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Condorcet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319353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Majority Fair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564924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Unanimity Fair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879675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Pareto Efficient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447564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Monotonic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156755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Spoiler-proof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405767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Single-winner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Probably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724772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Easy to explain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325088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Anonymous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312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271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7A83F-E005-B669-E5DA-0C34C4E9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E8E2E3-42B4-36F6-C3D4-D093DB3310A1}"/>
              </a:ext>
            </a:extLst>
          </p:cNvPr>
          <p:cNvSpPr/>
          <p:nvPr/>
        </p:nvSpPr>
        <p:spPr>
          <a:xfrm>
            <a:off x="529936" y="480214"/>
            <a:ext cx="11132127" cy="589757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4B69C2-32D6-A13F-E1AB-DAD8331C43DD}"/>
                  </a:ext>
                </a:extLst>
              </p:cNvPr>
              <p:cNvSpPr txBox="1"/>
              <p:nvPr/>
            </p:nvSpPr>
            <p:spPr>
              <a:xfrm>
                <a:off x="1835726" y="768927"/>
                <a:ext cx="360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4B69C2-32D6-A13F-E1AB-DAD8331C4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726" y="768927"/>
                <a:ext cx="360219" cy="461665"/>
              </a:xfrm>
              <a:prstGeom prst="rect">
                <a:avLst/>
              </a:prstGeom>
              <a:blipFill>
                <a:blip r:embed="rId2"/>
                <a:stretch>
                  <a:fillRect l="-3390" r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ECC553A-CCA3-A31F-4420-6280BE1CE10D}"/>
              </a:ext>
            </a:extLst>
          </p:cNvPr>
          <p:cNvSpPr/>
          <p:nvPr/>
        </p:nvSpPr>
        <p:spPr>
          <a:xfrm>
            <a:off x="1340426" y="1059873"/>
            <a:ext cx="9511146" cy="50292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6B5124-7298-01A3-5892-F3805FCD95ED}"/>
                  </a:ext>
                </a:extLst>
              </p:cNvPr>
              <p:cNvSpPr txBox="1"/>
              <p:nvPr/>
            </p:nvSpPr>
            <p:spPr>
              <a:xfrm>
                <a:off x="5825887" y="1370287"/>
                <a:ext cx="8312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6B5124-7298-01A3-5892-F3805FCD9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887" y="1370287"/>
                <a:ext cx="83127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C90C1779-159A-36C5-11F9-C0C5B9A351B0}"/>
              </a:ext>
            </a:extLst>
          </p:cNvPr>
          <p:cNvSpPr/>
          <p:nvPr/>
        </p:nvSpPr>
        <p:spPr>
          <a:xfrm>
            <a:off x="2195945" y="1754216"/>
            <a:ext cx="5202381" cy="3640513"/>
          </a:xfrm>
          <a:prstGeom prst="ellipse">
            <a:avLst/>
          </a:prstGeom>
          <a:solidFill>
            <a:srgbClr val="4E95D9">
              <a:alpha val="50196"/>
            </a:srgbClr>
          </a:solidFill>
          <a:ln>
            <a:solidFill>
              <a:srgbClr val="042433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819AB1-D1BE-B244-1416-7555AE498EB0}"/>
                  </a:ext>
                </a:extLst>
              </p:cNvPr>
              <p:cNvSpPr txBox="1"/>
              <p:nvPr/>
            </p:nvSpPr>
            <p:spPr>
              <a:xfrm rot="21361610">
                <a:off x="3351933" y="2062128"/>
                <a:ext cx="2460917" cy="461665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𝑷𝑽𝑪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𝑷𝑴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𝑺𝑽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819AB1-D1BE-B244-1416-7555AE498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1610">
                <a:off x="3351933" y="2062128"/>
                <a:ext cx="2460917" cy="461665"/>
              </a:xfrm>
              <a:prstGeom prst="rect">
                <a:avLst/>
              </a:prstGeom>
              <a:blipFill>
                <a:blip r:embed="rId4"/>
                <a:stretch>
                  <a:fillRect t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A5BD6401-168B-FF01-4B4F-143143EDB4EC}"/>
              </a:ext>
            </a:extLst>
          </p:cNvPr>
          <p:cNvSpPr/>
          <p:nvPr/>
        </p:nvSpPr>
        <p:spPr>
          <a:xfrm>
            <a:off x="2557029" y="2177865"/>
            <a:ext cx="4480211" cy="2956559"/>
          </a:xfrm>
          <a:prstGeom prst="ellipse">
            <a:avLst/>
          </a:prstGeom>
          <a:solidFill>
            <a:srgbClr val="78206E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311412-B4DC-6123-C275-982667C86411}"/>
                  </a:ext>
                </a:extLst>
              </p:cNvPr>
              <p:cNvSpPr txBox="1"/>
              <p:nvPr/>
            </p:nvSpPr>
            <p:spPr>
              <a:xfrm>
                <a:off x="4133851" y="2436122"/>
                <a:ext cx="8312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𝑷𝑽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311412-B4DC-6123-C275-982667C86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851" y="2436122"/>
                <a:ext cx="83127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034D71B3-92E6-D83B-FE03-73F74F950F67}"/>
              </a:ext>
            </a:extLst>
          </p:cNvPr>
          <p:cNvSpPr/>
          <p:nvPr/>
        </p:nvSpPr>
        <p:spPr>
          <a:xfrm>
            <a:off x="4475019" y="3811362"/>
            <a:ext cx="2105894" cy="1420607"/>
          </a:xfrm>
          <a:prstGeom prst="ellipse">
            <a:avLst/>
          </a:prstGeom>
          <a:solidFill>
            <a:srgbClr val="78206E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3D5F307-7F58-7013-6223-D9790A2942D1}"/>
                  </a:ext>
                </a:extLst>
              </p:cNvPr>
              <p:cNvSpPr txBox="1"/>
              <p:nvPr/>
            </p:nvSpPr>
            <p:spPr>
              <a:xfrm>
                <a:off x="4475019" y="4290832"/>
                <a:ext cx="8312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𝑺𝑷𝑽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3D5F307-7F58-7013-6223-D9790A294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019" y="4290832"/>
                <a:ext cx="83127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88287A9-B4C8-037F-54E0-B02C744B4A34}"/>
              </a:ext>
            </a:extLst>
          </p:cNvPr>
          <p:cNvSpPr txBox="1"/>
          <p:nvPr/>
        </p:nvSpPr>
        <p:spPr>
          <a:xfrm>
            <a:off x="10286543" y="5071563"/>
            <a:ext cx="47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678FA6-C912-B57E-C8E0-460434397B52}"/>
              </a:ext>
            </a:extLst>
          </p:cNvPr>
          <p:cNvSpPr txBox="1"/>
          <p:nvPr/>
        </p:nvSpPr>
        <p:spPr>
          <a:xfrm>
            <a:off x="6975765" y="3178885"/>
            <a:ext cx="47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F5313C-B076-1ABF-BA40-F4B95322CBD0}"/>
              </a:ext>
            </a:extLst>
          </p:cNvPr>
          <p:cNvSpPr txBox="1"/>
          <p:nvPr/>
        </p:nvSpPr>
        <p:spPr>
          <a:xfrm>
            <a:off x="5306292" y="4134527"/>
            <a:ext cx="47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ED61C-2F83-18D6-E13B-22226F82F941}"/>
              </a:ext>
            </a:extLst>
          </p:cNvPr>
          <p:cNvSpPr txBox="1"/>
          <p:nvPr/>
        </p:nvSpPr>
        <p:spPr>
          <a:xfrm>
            <a:off x="3616494" y="3488196"/>
            <a:ext cx="47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6E853A-27E6-8982-473F-5DF87111B264}"/>
              </a:ext>
            </a:extLst>
          </p:cNvPr>
          <p:cNvSpPr txBox="1"/>
          <p:nvPr/>
        </p:nvSpPr>
        <p:spPr>
          <a:xfrm>
            <a:off x="7709137" y="1877613"/>
            <a:ext cx="47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DAF8809-42B8-25A8-12AB-78D63383F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925737"/>
              </p:ext>
            </p:extLst>
          </p:nvPr>
        </p:nvGraphicFramePr>
        <p:xfrm>
          <a:off x="10286543" y="133312"/>
          <a:ext cx="180106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267">
                  <a:extLst>
                    <a:ext uri="{9D8B030D-6E8A-4147-A177-3AD203B41FA5}">
                      <a16:colId xmlns:a16="http://schemas.microsoft.com/office/drawing/2014/main" val="3878536740"/>
                    </a:ext>
                  </a:extLst>
                </a:gridCol>
                <a:gridCol w="450267">
                  <a:extLst>
                    <a:ext uri="{9D8B030D-6E8A-4147-A177-3AD203B41FA5}">
                      <a16:colId xmlns:a16="http://schemas.microsoft.com/office/drawing/2014/main" val="4152294512"/>
                    </a:ext>
                  </a:extLst>
                </a:gridCol>
                <a:gridCol w="450267">
                  <a:extLst>
                    <a:ext uri="{9D8B030D-6E8A-4147-A177-3AD203B41FA5}">
                      <a16:colId xmlns:a16="http://schemas.microsoft.com/office/drawing/2014/main" val="833357899"/>
                    </a:ext>
                  </a:extLst>
                </a:gridCol>
                <a:gridCol w="450267">
                  <a:extLst>
                    <a:ext uri="{9D8B030D-6E8A-4147-A177-3AD203B41FA5}">
                      <a16:colId xmlns:a16="http://schemas.microsoft.com/office/drawing/2014/main" val="2208818828"/>
                    </a:ext>
                  </a:extLst>
                </a:gridCol>
              </a:tblGrid>
              <a:tr h="2852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624470"/>
                  </a:ext>
                </a:extLst>
              </a:tr>
              <a:tr h="28522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0976"/>
                  </a:ext>
                </a:extLst>
              </a:tr>
              <a:tr h="28522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467876"/>
                  </a:ext>
                </a:extLst>
              </a:tr>
              <a:tr h="2852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607861"/>
                  </a:ext>
                </a:extLst>
              </a:tr>
              <a:tr h="2852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12212"/>
                  </a:ext>
                </a:extLst>
              </a:tr>
              <a:tr h="28522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1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067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6" grpId="0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70856-15F7-7A91-C24C-B5DDA3378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5B7C48-66A4-C216-5CF6-967852214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Pareto,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𝑑𝑖𝑠𝑡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Condorcet, then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𝑑𝑖𝑠𝑡</m:t>
                    </m:r>
                    <m:r>
                      <a:rPr lang="en-US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&lt;3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there is a Majority winner other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𝑑𝑖𝑠𝑡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)&gt;3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5B7C48-66A4-C216-5CF6-967852214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8C1F9E66-DAF5-855E-9994-2C2D2EEEC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Q5: Computing Distortion in a profile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A249F5-9317-9843-25C3-7E3C0E7CCB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790483"/>
              </p:ext>
            </p:extLst>
          </p:nvPr>
        </p:nvGraphicFramePr>
        <p:xfrm>
          <a:off x="985534" y="4001294"/>
          <a:ext cx="214745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864">
                  <a:extLst>
                    <a:ext uri="{9D8B030D-6E8A-4147-A177-3AD203B41FA5}">
                      <a16:colId xmlns:a16="http://schemas.microsoft.com/office/drawing/2014/main" val="3878536740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4152294512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833357899"/>
                    </a:ext>
                  </a:extLst>
                </a:gridCol>
                <a:gridCol w="536864">
                  <a:extLst>
                    <a:ext uri="{9D8B030D-6E8A-4147-A177-3AD203B41FA5}">
                      <a16:colId xmlns:a16="http://schemas.microsoft.com/office/drawing/2014/main" val="2208818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62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0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467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60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51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125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5F5CBA-735C-0BAB-315B-1B5B69994E9C}"/>
                  </a:ext>
                </a:extLst>
              </p:cNvPr>
              <p:cNvSpPr txBox="1"/>
              <p:nvPr/>
            </p:nvSpPr>
            <p:spPr>
              <a:xfrm>
                <a:off x="3430807" y="4495499"/>
                <a:ext cx="300463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5F5CBA-735C-0BAB-315B-1B5B69994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807" y="4495499"/>
                <a:ext cx="3004630" cy="1477328"/>
              </a:xfrm>
              <a:prstGeom prst="rect">
                <a:avLst/>
              </a:prstGeom>
              <a:blipFill>
                <a:blip r:embed="rId3"/>
                <a:stretch>
                  <a:fillRect l="-1420" t="-2469" r="-1217" b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106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C58F3C-652B-ADE3-E702-174EA5AB86DB}"/>
              </a:ext>
            </a:extLst>
          </p:cNvPr>
          <p:cNvSpPr/>
          <p:nvPr/>
        </p:nvSpPr>
        <p:spPr>
          <a:xfrm>
            <a:off x="529936" y="480214"/>
            <a:ext cx="11132127" cy="589757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89690B-7426-28C0-47C5-3F8EC8A07676}"/>
                  </a:ext>
                </a:extLst>
              </p:cNvPr>
              <p:cNvSpPr txBox="1"/>
              <p:nvPr/>
            </p:nvSpPr>
            <p:spPr>
              <a:xfrm>
                <a:off x="1835726" y="768927"/>
                <a:ext cx="360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89690B-7426-28C0-47C5-3F8EC8A07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726" y="768927"/>
                <a:ext cx="360219" cy="461665"/>
              </a:xfrm>
              <a:prstGeom prst="rect">
                <a:avLst/>
              </a:prstGeom>
              <a:blipFill>
                <a:blip r:embed="rId2"/>
                <a:stretch>
                  <a:fillRect l="-3390" t="-10526" r="-4915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FE1D6F14-7AA6-6902-3C28-38FE2CACF1EE}"/>
              </a:ext>
            </a:extLst>
          </p:cNvPr>
          <p:cNvSpPr/>
          <p:nvPr/>
        </p:nvSpPr>
        <p:spPr>
          <a:xfrm>
            <a:off x="1340426" y="1059873"/>
            <a:ext cx="9511146" cy="50292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16E614-2A57-A580-0ECE-44CEC06B82C6}"/>
                  </a:ext>
                </a:extLst>
              </p:cNvPr>
              <p:cNvSpPr txBox="1"/>
              <p:nvPr/>
            </p:nvSpPr>
            <p:spPr>
              <a:xfrm>
                <a:off x="5825887" y="1370287"/>
                <a:ext cx="8312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16E614-2A57-A580-0ECE-44CEC06B8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5887" y="1370287"/>
                <a:ext cx="831273" cy="461665"/>
              </a:xfrm>
              <a:prstGeom prst="rect">
                <a:avLst/>
              </a:prstGeom>
              <a:blipFill>
                <a:blip r:embed="rId3"/>
                <a:stretch>
                  <a:fillRect t="-10526" r="-4412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51E160BD-1E63-98E4-B786-F3B8C11C986E}"/>
              </a:ext>
            </a:extLst>
          </p:cNvPr>
          <p:cNvSpPr/>
          <p:nvPr/>
        </p:nvSpPr>
        <p:spPr>
          <a:xfrm>
            <a:off x="2195945" y="1754216"/>
            <a:ext cx="5202381" cy="3640513"/>
          </a:xfrm>
          <a:prstGeom prst="ellipse">
            <a:avLst/>
          </a:prstGeom>
          <a:solidFill>
            <a:srgbClr val="4E95D9">
              <a:alpha val="50196"/>
            </a:srgbClr>
          </a:solidFill>
          <a:ln>
            <a:solidFill>
              <a:srgbClr val="042433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9E37D4-C617-7845-9747-F04FE9ED58D8}"/>
                  </a:ext>
                </a:extLst>
              </p:cNvPr>
              <p:cNvSpPr txBox="1"/>
              <p:nvPr/>
            </p:nvSpPr>
            <p:spPr>
              <a:xfrm rot="21361610">
                <a:off x="3351933" y="2062128"/>
                <a:ext cx="2460917" cy="461665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ArchUp">
                  <a:avLst/>
                </a:prstTxWarp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𝑷𝑽𝑪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𝑷𝑴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𝑺𝑽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9E37D4-C617-7845-9747-F04FE9ED5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61610">
                <a:off x="3351933" y="2062128"/>
                <a:ext cx="2460917" cy="461665"/>
              </a:xfrm>
              <a:prstGeom prst="rect">
                <a:avLst/>
              </a:prstGeom>
              <a:blipFill>
                <a:blip r:embed="rId4"/>
                <a:stretch>
                  <a:fillRect t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4E86993A-BEDC-F191-9D81-CD8CD84A1540}"/>
              </a:ext>
            </a:extLst>
          </p:cNvPr>
          <p:cNvSpPr/>
          <p:nvPr/>
        </p:nvSpPr>
        <p:spPr>
          <a:xfrm>
            <a:off x="4977247" y="1773148"/>
            <a:ext cx="5202381" cy="3614038"/>
          </a:xfrm>
          <a:prstGeom prst="ellipse">
            <a:avLst/>
          </a:prstGeom>
          <a:solidFill>
            <a:srgbClr val="4E95D9">
              <a:alpha val="50196"/>
            </a:srgbClr>
          </a:solidFill>
          <a:ln>
            <a:solidFill>
              <a:srgbClr val="042433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C20B5B-20E9-5841-4A07-1DF4E2A4D3F8}"/>
                  </a:ext>
                </a:extLst>
              </p:cNvPr>
              <p:cNvSpPr txBox="1"/>
              <p:nvPr/>
            </p:nvSpPr>
            <p:spPr>
              <a:xfrm>
                <a:off x="8037368" y="2252490"/>
                <a:ext cx="8312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𝑴𝑫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C20B5B-20E9-5841-4A07-1DF4E2A4D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368" y="2252490"/>
                <a:ext cx="831273" cy="461665"/>
              </a:xfrm>
              <a:prstGeom prst="rect">
                <a:avLst/>
              </a:prstGeom>
              <a:blipFill>
                <a:blip r:embed="rId5"/>
                <a:stretch>
                  <a:fillRect t="-10667" r="-10949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BD846122-5CE2-8021-D00E-457EC74213BD}"/>
              </a:ext>
            </a:extLst>
          </p:cNvPr>
          <p:cNvSpPr/>
          <p:nvPr/>
        </p:nvSpPr>
        <p:spPr>
          <a:xfrm>
            <a:off x="2557029" y="2177865"/>
            <a:ext cx="4480211" cy="2956559"/>
          </a:xfrm>
          <a:prstGeom prst="ellipse">
            <a:avLst/>
          </a:prstGeom>
          <a:solidFill>
            <a:srgbClr val="78206E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64F874-E194-2224-0A25-05FA8A566DAF}"/>
                  </a:ext>
                </a:extLst>
              </p:cNvPr>
              <p:cNvSpPr txBox="1"/>
              <p:nvPr/>
            </p:nvSpPr>
            <p:spPr>
              <a:xfrm>
                <a:off x="4133851" y="2436122"/>
                <a:ext cx="8312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𝑷𝑽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64F874-E194-2224-0A25-05FA8A566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851" y="2436122"/>
                <a:ext cx="831273" cy="461665"/>
              </a:xfrm>
              <a:prstGeom prst="rect">
                <a:avLst/>
              </a:prstGeom>
              <a:blipFill>
                <a:blip r:embed="rId6"/>
                <a:stretch>
                  <a:fillRect t="-10667" r="-5882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29F6ED94-F68B-A20D-5B08-06914AFC0B04}"/>
              </a:ext>
            </a:extLst>
          </p:cNvPr>
          <p:cNvSpPr/>
          <p:nvPr/>
        </p:nvSpPr>
        <p:spPr>
          <a:xfrm>
            <a:off x="4475019" y="3811362"/>
            <a:ext cx="2105894" cy="1420607"/>
          </a:xfrm>
          <a:prstGeom prst="ellipse">
            <a:avLst/>
          </a:prstGeom>
          <a:solidFill>
            <a:srgbClr val="78206E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2C9CAB-4E9D-AFA4-85D8-4AE7AC70C40B}"/>
                  </a:ext>
                </a:extLst>
              </p:cNvPr>
              <p:cNvSpPr txBox="1"/>
              <p:nvPr/>
            </p:nvSpPr>
            <p:spPr>
              <a:xfrm>
                <a:off x="4475019" y="4290832"/>
                <a:ext cx="8312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𝑺𝑷𝑽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92C9CAB-4E9D-AFA4-85D8-4AE7AC70C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019" y="4290832"/>
                <a:ext cx="831273" cy="461665"/>
              </a:xfrm>
              <a:prstGeom prst="rect">
                <a:avLst/>
              </a:prstGeom>
              <a:blipFill>
                <a:blip r:embed="rId8"/>
                <a:stretch>
                  <a:fillRect t="-10526" r="-15441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787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6D391-AFB7-3836-4ED1-1F29E5E4A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1BE148-6C8C-D719-ADD6-12B7B8C48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124837"/>
              </p:ext>
            </p:extLst>
          </p:nvPr>
        </p:nvGraphicFramePr>
        <p:xfrm>
          <a:off x="1503795" y="635072"/>
          <a:ext cx="9184410" cy="5587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882">
                  <a:extLst>
                    <a:ext uri="{9D8B030D-6E8A-4147-A177-3AD203B41FA5}">
                      <a16:colId xmlns:a16="http://schemas.microsoft.com/office/drawing/2014/main" val="3951527132"/>
                    </a:ext>
                  </a:extLst>
                </a:gridCol>
                <a:gridCol w="1836882">
                  <a:extLst>
                    <a:ext uri="{9D8B030D-6E8A-4147-A177-3AD203B41FA5}">
                      <a16:colId xmlns:a16="http://schemas.microsoft.com/office/drawing/2014/main" val="3358872223"/>
                    </a:ext>
                  </a:extLst>
                </a:gridCol>
                <a:gridCol w="1836882">
                  <a:extLst>
                    <a:ext uri="{9D8B030D-6E8A-4147-A177-3AD203B41FA5}">
                      <a16:colId xmlns:a16="http://schemas.microsoft.com/office/drawing/2014/main" val="1701207751"/>
                    </a:ext>
                  </a:extLst>
                </a:gridCol>
                <a:gridCol w="1836882">
                  <a:extLst>
                    <a:ext uri="{9D8B030D-6E8A-4147-A177-3AD203B41FA5}">
                      <a16:colId xmlns:a16="http://schemas.microsoft.com/office/drawing/2014/main" val="2896390289"/>
                    </a:ext>
                  </a:extLst>
                </a:gridCol>
                <a:gridCol w="1836882">
                  <a:extLst>
                    <a:ext uri="{9D8B030D-6E8A-4147-A177-3AD203B41FA5}">
                      <a16:colId xmlns:a16="http://schemas.microsoft.com/office/drawing/2014/main" val="2114222148"/>
                    </a:ext>
                  </a:extLst>
                </a:gridCol>
              </a:tblGrid>
              <a:tr h="7611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b="1" dirty="0">
                          <a:solidFill>
                            <a:schemeClr val="accent2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722675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Distortion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412030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Condorcet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319353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Majority Fair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564924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Unanimity Fair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879675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Pareto Efficient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447564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Monotonic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156755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Spoiler-proof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405767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Single-winner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Probably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Probably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724772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Easy to explain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325088"/>
                  </a:ext>
                </a:extLst>
              </a:tr>
              <a:tr h="4826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Anonymous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312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892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13432</TotalTime>
  <Words>1490</Words>
  <Application>Microsoft Office PowerPoint</Application>
  <PresentationFormat>Widescreen</PresentationFormat>
  <Paragraphs>568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 Math</vt:lpstr>
      <vt:lpstr>Office Theme</vt:lpstr>
      <vt:lpstr>Distortion and Veto Rules</vt:lpstr>
      <vt:lpstr>PowerPoint Presentation</vt:lpstr>
      <vt:lpstr>Review: Distortion</vt:lpstr>
      <vt:lpstr>Review: Distortion</vt:lpstr>
      <vt:lpstr>Review: Plurality Veto &amp; Plurality Matching</vt:lpstr>
      <vt:lpstr>PowerPoint Presentation</vt:lpstr>
      <vt:lpstr>Review: Plurality Veto &amp; Plurality Matching</vt:lpstr>
      <vt:lpstr>Review: Plurality Veto &amp; Plurality Matching</vt:lpstr>
      <vt:lpstr>PowerPoint Presentation</vt:lpstr>
      <vt:lpstr>Questions</vt:lpstr>
      <vt:lpstr>Q1: How to characterize PM winners?</vt:lpstr>
      <vt:lpstr>Q1: How to characterize PM winners?</vt:lpstr>
      <vt:lpstr>Q2: How to characterize PM - PV?</vt:lpstr>
      <vt:lpstr>Q2: How to characterize PM - PV?</vt:lpstr>
      <vt:lpstr>Q3: How does vote order affect PV? </vt:lpstr>
      <vt:lpstr>Q4: Choosing a canonical PV/PM winner</vt:lpstr>
      <vt:lpstr>PowerPoint Presentation</vt:lpstr>
      <vt:lpstr>PowerPoint Presentation</vt:lpstr>
      <vt:lpstr>PowerPoint Presentation</vt:lpstr>
      <vt:lpstr>Q5: Computing Distortion in a profile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Jalen Chrysos</dc:creator>
  <cp:lastModifiedBy>Jalen Chrysos</cp:lastModifiedBy>
  <cp:revision>101</cp:revision>
  <dcterms:created xsi:type="dcterms:W3CDTF">2026-02-11T01:34:41Z</dcterms:created>
  <dcterms:modified xsi:type="dcterms:W3CDTF">2026-02-21T00:19:16Z</dcterms:modified>
</cp:coreProperties>
</file>